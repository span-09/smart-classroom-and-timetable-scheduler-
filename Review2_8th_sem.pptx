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75" r:id="rId4"/>
    <p:sldId id="257" r:id="rId5"/>
    <p:sldId id="277" r:id="rId6"/>
    <p:sldId id="271" r:id="rId7"/>
    <p:sldId id="276" r:id="rId8"/>
    <p:sldId id="272" r:id="rId9"/>
    <p:sldId id="273" r:id="rId10"/>
    <p:sldId id="279" r:id="rId11"/>
    <p:sldId id="278"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p:scale>
          <a:sx n="66" d="100"/>
          <a:sy n="66" d="100"/>
        </p:scale>
        <p:origin x="1373"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pan-09/Smart-Classroom-and-Timetable-Scheduler-"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SMART CLASSROOM AND TIMETABLE SCHEDULAR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Akshatha Y</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74888798"/>
              </p:ext>
            </p:extLst>
          </p:nvPr>
        </p:nvGraphicFramePr>
        <p:xfrm>
          <a:off x="197505" y="2721840"/>
          <a:ext cx="5774517" cy="2194620"/>
        </p:xfrm>
        <a:graphic>
          <a:graphicData uri="http://schemas.openxmlformats.org/drawingml/2006/table">
            <a:tbl>
              <a:tblPr firstRow="1" bandRow="1">
                <a:noFill/>
                <a:tableStyleId>{57690726-49DA-4552-BDEB-330DD8EA8BD9}</a:tableStyleId>
              </a:tblPr>
              <a:tblGrid>
                <a:gridCol w="2221921">
                  <a:extLst>
                    <a:ext uri="{9D8B030D-6E8A-4147-A177-3AD203B41FA5}">
                      <a16:colId xmlns:a16="http://schemas.microsoft.com/office/drawing/2014/main" val="20000"/>
                    </a:ext>
                  </a:extLst>
                </a:gridCol>
                <a:gridCol w="3552596">
                  <a:extLst>
                    <a:ext uri="{9D8B030D-6E8A-4147-A177-3AD203B41FA5}">
                      <a16:colId xmlns:a16="http://schemas.microsoft.com/office/drawing/2014/main" val="20001"/>
                    </a:ext>
                  </a:extLst>
                </a:gridCol>
              </a:tblGrid>
              <a:tr h="283512">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3512">
                <a:tc>
                  <a:txBody>
                    <a:bodyPr/>
                    <a:lstStyle/>
                    <a:p>
                      <a:pPr marL="0" marR="0" lvl="0" indent="0" algn="ctr" rtl="0">
                        <a:spcBef>
                          <a:spcPts val="0"/>
                        </a:spcBef>
                        <a:spcAft>
                          <a:spcPts val="0"/>
                        </a:spcAft>
                        <a:buFont typeface="+mj-lt"/>
                        <a:buNone/>
                      </a:pPr>
                      <a:r>
                        <a:rPr lang="en-IN" sz="1800" u="none" strike="noStrike" cap="none" dirty="0"/>
                        <a:t>20221CSE0359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Spandana K G</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83512">
                <a:tc>
                  <a:txBody>
                    <a:bodyPr/>
                    <a:lstStyle/>
                    <a:p>
                      <a:pPr marL="0" marR="0" lvl="0" indent="0" algn="ctr" rtl="0">
                        <a:spcBef>
                          <a:spcPts val="0"/>
                        </a:spcBef>
                        <a:spcAft>
                          <a:spcPts val="0"/>
                        </a:spcAft>
                        <a:buNone/>
                      </a:pPr>
                      <a:r>
                        <a:rPr lang="en-IN" sz="1800" u="none" strike="noStrike" cap="none" dirty="0"/>
                        <a:t>20221CSE0256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Misba Ain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3512">
                <a:tc>
                  <a:txBody>
                    <a:bodyPr/>
                    <a:lstStyle/>
                    <a:p>
                      <a:pPr marL="0" marR="0" lvl="0" indent="0" algn="ctr" rtl="0">
                        <a:spcBef>
                          <a:spcPts val="0"/>
                        </a:spcBef>
                        <a:spcAft>
                          <a:spcPts val="0"/>
                        </a:spcAft>
                        <a:buNone/>
                      </a:pPr>
                      <a:r>
                        <a:rPr lang="en-IN" sz="1800" u="none" strike="noStrike" cap="none" dirty="0"/>
                        <a:t>20221CSE0274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M Priyanka</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351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351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School of Computer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Mohammed</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90424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25028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Organization: Smart Education</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Category : Software</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Problem Description:</a:t>
            </a:r>
          </a:p>
          <a:p>
            <a:pPr marL="34290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800" b="1" dirty="0">
                <a:latin typeface="Times New Roman" panose="02020603050405020304" pitchFamily="18" charset="0"/>
                <a:ea typeface="Cambria" panose="02040503050406030204" pitchFamily="18" charset="0"/>
                <a:cs typeface="Times New Roman" panose="02020603050405020304" pitchFamily="18" charset="0"/>
              </a:rPr>
              <a:t>Background</a:t>
            </a:r>
          </a:p>
          <a:p>
            <a:pPr marL="342900" lvl="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None/>
            </a:pPr>
            <a:r>
              <a:rPr lang="en-US" sz="1700" dirty="0">
                <a:latin typeface="Times New Roman" panose="02020603050405020304" pitchFamily="18" charset="0"/>
                <a:ea typeface="Cambria" panose="02040503050406030204" pitchFamily="18" charset="0"/>
                <a:cs typeface="Times New Roman" panose="02020603050405020304" pitchFamily="18" charset="0"/>
              </a:rPr>
              <a:t>Higher Education institutions often face challenges in efficient class scheduling due to limited infrastructure, faculty constraints, elective courses, and overlapping departmental requirements. Manual timetable preparation leads to frequent clashes in classes, underutilized classrooms, uneven workload distribution, and dissatisfied students and faculty members. With the increasing adoption of multidisciplinary curricula and flexible learning under NEP 2020, the class scheduling process has Become more complex and dynamic, requiring intelligent and adaptive solutions.</a:t>
            </a:r>
          </a:p>
          <a:p>
            <a:pPr marL="342900" lvl="0" indent="-190500" algn="just">
              <a:spcBef>
                <a:spcPts val="0"/>
              </a:spcBef>
              <a:buNone/>
            </a:pPr>
            <a:endParaRPr lang="en-US" sz="17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700" b="1" dirty="0">
                <a:latin typeface="Times New Roman" panose="02020603050405020304" pitchFamily="18" charset="0"/>
                <a:ea typeface="Cambria" panose="02040503050406030204" pitchFamily="18" charset="0"/>
                <a:cs typeface="Times New Roman" panose="02020603050405020304" pitchFamily="18" charset="0"/>
              </a:rPr>
              <a:t>Description</a:t>
            </a:r>
          </a:p>
          <a:p>
            <a:pPr marL="342900" lvl="0" indent="-190500" algn="just">
              <a:spcBef>
                <a:spcPts val="0"/>
              </a:spcBef>
              <a:buNone/>
            </a:pPr>
            <a:endParaRPr lang="en-US" sz="1800" b="1"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None/>
            </a:pPr>
            <a:r>
              <a:rPr lang="en-US" sz="1700" dirty="0">
                <a:latin typeface="Times New Roman" panose="02020603050405020304" pitchFamily="18" charset="0"/>
                <a:ea typeface="Cambria" panose="02040503050406030204" pitchFamily="18" charset="0"/>
                <a:cs typeface="Times New Roman" panose="02020603050405020304" pitchFamily="18" charset="0"/>
              </a:rPr>
              <a:t>The current scheduling mechanism in most higher education institutes/colleges relies on manual input via spreadsheets or basic tools. These fail to account for real-time availability of faculty, room capacity, teaching load norms, subject combinations, and student preferences. A solution is required that will accommodate the various parameters required for scheduling classes for UG and PG students and return an optimized timetable ensuring:</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F4D0-FF08-C220-D217-C41B7D241625}"/>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Problem Statement Number: 25028</a:t>
            </a:r>
            <a:endParaRPr lang="en-IN" dirty="0"/>
          </a:p>
        </p:txBody>
      </p:sp>
      <p:sp>
        <p:nvSpPr>
          <p:cNvPr id="3" name="Text Placeholder 2">
            <a:extLst>
              <a:ext uri="{FF2B5EF4-FFF2-40B4-BE49-F238E27FC236}">
                <a16:creationId xmlns:a16="http://schemas.microsoft.com/office/drawing/2014/main" id="{0BA3DC39-9717-A571-CA4B-2FD6D7C8EE87}"/>
              </a:ext>
            </a:extLst>
          </p:cNvPr>
          <p:cNvSpPr>
            <a:spLocks noGrp="1"/>
          </p:cNvSpPr>
          <p:nvPr>
            <p:ph type="body" idx="1"/>
          </p:nvPr>
        </p:nvSpPr>
        <p:spPr/>
        <p:txBody>
          <a:bodyPr>
            <a:normAutofit/>
          </a:bodyPr>
          <a:lstStyle/>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*Maximized utilization of classrooms and laboratories</a:t>
            </a:r>
          </a:p>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*Minimized workload on faculty members and students</a:t>
            </a:r>
          </a:p>
          <a:p>
            <a:pPr marL="76200" indent="0" algn="just">
              <a:buNone/>
            </a:pPr>
            <a:r>
              <a:rPr lang="en-US" sz="1600" dirty="0">
                <a:latin typeface="Times New Roman" panose="02020603050405020304" pitchFamily="18" charset="0"/>
                <a:ea typeface="Cambria" panose="02040503050406030204" pitchFamily="18" charset="0"/>
                <a:cs typeface="Times New Roman" panose="02020603050405020304" pitchFamily="18" charset="0"/>
              </a:rPr>
              <a:t>* Achievement of required learning outcomes  </a:t>
            </a:r>
          </a:p>
          <a:p>
            <a:pPr marL="76200" indent="0" algn="just">
              <a:buNone/>
            </a:pPr>
            <a:r>
              <a:rPr lang="en-US" sz="1600" b="1" dirty="0">
                <a:latin typeface="Times New Roman" panose="02020603050405020304" pitchFamily="18" charset="0"/>
                <a:ea typeface="Cambria" panose="02040503050406030204" pitchFamily="18" charset="0"/>
                <a:cs typeface="Times New Roman" panose="02020603050405020304" pitchFamily="18" charset="0"/>
              </a:rPr>
              <a:t>Key Parameters</a:t>
            </a:r>
          </a:p>
          <a:p>
            <a:pPr marL="76200" indent="0" algn="just">
              <a:buNone/>
            </a:pPr>
            <a:r>
              <a:rPr lang="en-US" sz="1600" dirty="0">
                <a:latin typeface="Times New Roman" panose="02020603050405020304" pitchFamily="18" charset="0"/>
                <a:cs typeface="Times New Roman" panose="02020603050405020304" pitchFamily="18" charset="0"/>
              </a:rPr>
              <a:t>The following parameters can be taken into account as variables for creating optimized timetables:</a:t>
            </a:r>
          </a:p>
          <a:p>
            <a:pPr algn="just">
              <a:buFontTx/>
              <a:buChar char="-"/>
            </a:pPr>
            <a:r>
              <a:rPr lang="en-US" sz="1600" dirty="0">
                <a:latin typeface="Times New Roman" panose="02020603050405020304" pitchFamily="18" charset="0"/>
                <a:cs typeface="Times New Roman" panose="02020603050405020304" pitchFamily="18" charset="0"/>
              </a:rPr>
              <a:t>Number of classrooms available</a:t>
            </a:r>
          </a:p>
          <a:p>
            <a:pPr algn="just">
              <a:buFontTx/>
              <a:buChar char="-"/>
            </a:pPr>
            <a:r>
              <a:rPr lang="en-US" sz="1600" dirty="0">
                <a:latin typeface="Times New Roman" panose="02020603050405020304" pitchFamily="18" charset="0"/>
                <a:cs typeface="Times New Roman" panose="02020603050405020304" pitchFamily="18" charset="0"/>
              </a:rPr>
              <a:t>Number of batches of students</a:t>
            </a:r>
          </a:p>
          <a:p>
            <a:pPr algn="just">
              <a:buFontTx/>
              <a:buChar char="-"/>
            </a:pPr>
            <a:r>
              <a:rPr lang="en-US" sz="1600" dirty="0">
                <a:latin typeface="Times New Roman" panose="02020603050405020304" pitchFamily="18" charset="0"/>
                <a:cs typeface="Times New Roman" panose="02020603050405020304" pitchFamily="18" charset="0"/>
              </a:rPr>
              <a:t>Number of subjects to be taught in a particular semester</a:t>
            </a:r>
          </a:p>
          <a:p>
            <a:pPr algn="just">
              <a:buFontTx/>
              <a:buChar char="-"/>
            </a:pPr>
            <a:r>
              <a:rPr lang="en-US" sz="1600" dirty="0">
                <a:latin typeface="Times New Roman" panose="02020603050405020304" pitchFamily="18" charset="0"/>
                <a:cs typeface="Times New Roman" panose="02020603050405020304" pitchFamily="18" charset="0"/>
              </a:rPr>
              <a:t>Names of subjects</a:t>
            </a:r>
          </a:p>
          <a:p>
            <a:pPr algn="just">
              <a:buFontTx/>
              <a:buChar char="-"/>
            </a:pPr>
            <a:r>
              <a:rPr lang="en-US" sz="1600" dirty="0">
                <a:latin typeface="Times New Roman" panose="02020603050405020304" pitchFamily="18" charset="0"/>
                <a:cs typeface="Times New Roman" panose="02020603050405020304" pitchFamily="18" charset="0"/>
              </a:rPr>
              <a:t>Maximum number of classes per day</a:t>
            </a:r>
          </a:p>
          <a:p>
            <a:pPr algn="just">
              <a:buFontTx/>
              <a:buChar char="-"/>
            </a:pPr>
            <a:r>
              <a:rPr lang="en-US" sz="1600" dirty="0">
                <a:latin typeface="Times New Roman" panose="02020603050405020304" pitchFamily="18" charset="0"/>
                <a:cs typeface="Times New Roman" panose="02020603050405020304" pitchFamily="18" charset="0"/>
              </a:rPr>
              <a:t>Number of classes to be conducted for a subject per week / per day</a:t>
            </a:r>
          </a:p>
          <a:p>
            <a:pPr algn="just">
              <a:buFontTx/>
              <a:buChar char="-"/>
            </a:pPr>
            <a:r>
              <a:rPr lang="en-US" sz="1600" dirty="0">
                <a:latin typeface="Times New Roman" panose="02020603050405020304" pitchFamily="18" charset="0"/>
                <a:cs typeface="Times New Roman" panose="02020603050405020304" pitchFamily="18" charset="0"/>
              </a:rPr>
              <a:t>Number of faculties available for different subjects</a:t>
            </a:r>
          </a:p>
          <a:p>
            <a:pPr algn="just">
              <a:buFontTx/>
              <a:buChar char="-"/>
            </a:pPr>
            <a:r>
              <a:rPr lang="en-US" sz="1600" dirty="0">
                <a:latin typeface="Times New Roman" panose="02020603050405020304" pitchFamily="18" charset="0"/>
                <a:cs typeface="Times New Roman" panose="02020603050405020304" pitchFamily="18" charset="0"/>
              </a:rPr>
              <a:t>Average number of leaves a faculty member takes in a month</a:t>
            </a:r>
          </a:p>
          <a:p>
            <a:pPr algn="just">
              <a:buFontTx/>
              <a:buChar char="-"/>
            </a:pPr>
            <a:r>
              <a:rPr lang="en-US" sz="1600" dirty="0">
                <a:latin typeface="Times New Roman" panose="02020603050405020304" pitchFamily="18" charset="0"/>
                <a:cs typeface="Times New Roman" panose="02020603050405020304" pitchFamily="18" charset="0"/>
              </a:rPr>
              <a:t>Special classes that have fixed slots in timetable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851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Proposed method and feasibility study</a:t>
            </a:r>
          </a:p>
          <a:p>
            <a:pPr marL="495300" lvl="0" indent="-342900" algn="just">
              <a:lnSpc>
                <a:spcPct val="200000"/>
              </a:lnSpc>
              <a:spcBef>
                <a:spcPts val="0"/>
              </a:spcBef>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indent="-342900" algn="just">
              <a:lnSpc>
                <a:spcPct val="200000"/>
              </a:lnSpc>
              <a:spcBef>
                <a:spcPts val="0"/>
              </a:spcBef>
              <a:buFont typeface="Arial" panose="020B0604020202020204" pitchFamily="34" charset="0"/>
              <a:buChar char="•"/>
            </a:pPr>
            <a:r>
              <a:rPr lang="en-US" sz="2100" dirty="0" err="1">
                <a:latin typeface="Times New Roman" panose="02020603050405020304" pitchFamily="18" charset="0"/>
                <a:ea typeface="Cambria" panose="02040503050406030204" pitchFamily="18" charset="0"/>
                <a:cs typeface="Times New Roman" panose="02020603050405020304" pitchFamily="18" charset="0"/>
              </a:rPr>
              <a:t>Git</a:t>
            </a:r>
            <a:r>
              <a:rPr lang="en-US" sz="2100" dirty="0">
                <a:latin typeface="Times New Roman" panose="02020603050405020304" pitchFamily="18" charset="0"/>
                <a:ea typeface="Cambria" panose="02040503050406030204" pitchFamily="18" charset="0"/>
                <a:cs typeface="Times New Roman" panose="020206030504050203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2100"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DAA4-6292-3557-D22D-3BF8F766D9E2}"/>
              </a:ext>
            </a:extLst>
          </p:cNvPr>
          <p:cNvSpPr>
            <a:spLocks noGrp="1"/>
          </p:cNvSpPr>
          <p:nvPr>
            <p:ph type="title"/>
          </p:nvPr>
        </p:nvSpPr>
        <p:spPr>
          <a:xfrm>
            <a:off x="812800" y="530942"/>
            <a:ext cx="10668000" cy="501445"/>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Objectives</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90E48A5E-2C69-A4BE-D5C7-B8727594EBAC}"/>
              </a:ext>
            </a:extLst>
          </p:cNvPr>
          <p:cNvSpPr>
            <a:spLocks noGrp="1"/>
          </p:cNvSpPr>
          <p:nvPr>
            <p:ph type="body" idx="1"/>
          </p:nvPr>
        </p:nvSpPr>
        <p:spPr/>
        <p:txBody>
          <a:bodyPr>
            <a:normAutofit/>
          </a:bodyPr>
          <a:lstStyle/>
          <a:p>
            <a:pPr marL="76200" indent="0" algn="just">
              <a:buNone/>
            </a:pPr>
            <a:r>
              <a:rPr lang="en-US" sz="1600" dirty="0">
                <a:latin typeface="Times New Roman" panose="02020603050405020304" pitchFamily="18" charset="0"/>
                <a:cs typeface="Times New Roman" panose="02020603050405020304" pitchFamily="18" charset="0"/>
              </a:rPr>
              <a:t>The primary goal of this project is to automate the academic scheduling process through a full-stack application that ensures conflict-free and optimized timetables. Key objectives include:</a:t>
            </a:r>
          </a:p>
          <a:p>
            <a:pPr algn="just"/>
            <a:r>
              <a:rPr lang="en-US" sz="1600" b="1" dirty="0">
                <a:latin typeface="Times New Roman" panose="02020603050405020304" pitchFamily="18" charset="0"/>
                <a:cs typeface="Times New Roman" panose="02020603050405020304" pitchFamily="18" charset="0"/>
              </a:rPr>
              <a:t>Conflict Prevention</a:t>
            </a:r>
            <a:r>
              <a:rPr lang="en-US" sz="1600" dirty="0">
                <a:latin typeface="Times New Roman" panose="02020603050405020304" pitchFamily="18" charset="0"/>
                <a:cs typeface="Times New Roman" panose="02020603050405020304" pitchFamily="18" charset="0"/>
              </a:rPr>
              <a:t>: Enforcing "Hard Constraints" such as preventing faculty and room overlaps, ensuring room capacity meets batch size, and respecting faculty daily limits.</a:t>
            </a:r>
          </a:p>
          <a:p>
            <a:pPr algn="just"/>
            <a:r>
              <a:rPr lang="en-US" sz="1600" b="1" dirty="0">
                <a:latin typeface="Times New Roman" panose="02020603050405020304" pitchFamily="18" charset="0"/>
                <a:cs typeface="Times New Roman" panose="02020603050405020304" pitchFamily="18" charset="0"/>
              </a:rPr>
              <a:t>Optimization</a:t>
            </a:r>
            <a:r>
              <a:rPr lang="en-US" sz="1600" dirty="0">
                <a:latin typeface="Times New Roman" panose="02020603050405020304" pitchFamily="18" charset="0"/>
                <a:cs typeface="Times New Roman" panose="02020603050405020304" pitchFamily="18" charset="0"/>
              </a:rPr>
              <a:t>: Implementing "Soft Constraints" to balance faculty workloads, minimize student idle time (gaps between classes), and maximize classroom utilization.</a:t>
            </a:r>
          </a:p>
          <a:p>
            <a:pPr algn="just"/>
            <a:r>
              <a:rPr lang="en-US" sz="1600" b="1" dirty="0">
                <a:latin typeface="Times New Roman" panose="02020603050405020304" pitchFamily="18" charset="0"/>
                <a:cs typeface="Times New Roman" panose="02020603050405020304" pitchFamily="18" charset="0"/>
              </a:rPr>
              <a:t>User Empowerment</a:t>
            </a:r>
            <a:r>
              <a:rPr lang="en-US" sz="1600" dirty="0">
                <a:latin typeface="Times New Roman" panose="02020603050405020304" pitchFamily="18" charset="0"/>
                <a:cs typeface="Times New Roman" panose="02020603050405020304" pitchFamily="18" charset="0"/>
              </a:rPr>
              <a:t>: Providing a multi-role system (Admin, Scheduler, Viewer) to manage data, generate alternatives, and approve finalized schedules.</a:t>
            </a:r>
          </a:p>
          <a:p>
            <a:pPr algn="just"/>
            <a:r>
              <a:rPr lang="en-US" sz="1600" b="1" dirty="0">
                <a:latin typeface="Times New Roman" panose="02020603050405020304" pitchFamily="18" charset="0"/>
                <a:cs typeface="Times New Roman" panose="02020603050405020304" pitchFamily="18" charset="0"/>
              </a:rPr>
              <a:t>Accessibility</a:t>
            </a:r>
            <a:r>
              <a:rPr lang="en-US" sz="1600" dirty="0">
                <a:latin typeface="Times New Roman" panose="02020603050405020304" pitchFamily="18" charset="0"/>
                <a:cs typeface="Times New Roman" panose="02020603050405020304" pitchFamily="18" charset="0"/>
              </a:rPr>
              <a:t>: Offering export capabilities in PDF and Excel formats for easy distribution.</a:t>
            </a:r>
          </a:p>
          <a:p>
            <a:endParaRPr lang="en-IN" dirty="0"/>
          </a:p>
        </p:txBody>
      </p:sp>
    </p:spTree>
    <p:extLst>
      <p:ext uri="{BB962C8B-B14F-4D97-AF65-F5344CB8AC3E}">
        <p14:creationId xmlns:p14="http://schemas.microsoft.com/office/powerpoint/2010/main" val="421190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1. Full Technology Stack</a:t>
            </a:r>
          </a:p>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Frontend (Client-Side)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Core Framework</a:t>
            </a:r>
            <a:r>
              <a:rPr lang="en-IN" sz="1600" dirty="0">
                <a:latin typeface="Times New Roman" panose="02020603050405020304" pitchFamily="18" charset="0"/>
                <a:ea typeface="Cambria" panose="02040503050406030204" pitchFamily="18" charset="0"/>
                <a:cs typeface="Times New Roman" panose="02020603050405020304" pitchFamily="18" charset="0"/>
              </a:rPr>
              <a:t>: React v18.2 (Component-based UI architecture)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Language</a:t>
            </a:r>
            <a:r>
              <a:rPr lang="en-IN" sz="1600" dirty="0">
                <a:latin typeface="Times New Roman" panose="02020603050405020304" pitchFamily="18" charset="0"/>
                <a:ea typeface="Cambria" panose="02040503050406030204" pitchFamily="18" charset="0"/>
                <a:cs typeface="Times New Roman" panose="02020603050405020304" pitchFamily="18" charset="0"/>
              </a:rPr>
              <a:t>: TypeScript v5.3 (Static typing for reliability)</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Build Tool</a:t>
            </a:r>
            <a:r>
              <a:rPr lang="en-IN" sz="1600" dirty="0">
                <a:latin typeface="Times New Roman" panose="02020603050405020304" pitchFamily="18" charset="0"/>
                <a:ea typeface="Cambria" panose="02040503050406030204" pitchFamily="18" charset="0"/>
                <a:cs typeface="Times New Roman" panose="02020603050405020304" pitchFamily="18" charset="0"/>
              </a:rPr>
              <a:t>: Vite v5.0 (Next-generation frontend tooling, faster than Webpack)</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Styling</a:t>
            </a:r>
            <a:r>
              <a:rPr lang="en-IN" sz="1600" dirty="0">
                <a:latin typeface="Times New Roman" panose="02020603050405020304" pitchFamily="18" charset="0"/>
                <a:ea typeface="Cambria" panose="02040503050406030204" pitchFamily="18" charset="0"/>
                <a:cs typeface="Times New Roman" panose="02020603050405020304" pitchFamily="18" charset="0"/>
              </a:rPr>
              <a:t>: Tailwind CSS v3.4 (Utility-first CSS framework for responsive design)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Routing</a:t>
            </a:r>
            <a:r>
              <a:rPr lang="en-IN" sz="1600" dirty="0">
                <a:latin typeface="Times New Roman" panose="02020603050405020304" pitchFamily="18" charset="0"/>
                <a:ea typeface="Cambria" panose="02040503050406030204" pitchFamily="18" charset="0"/>
                <a:cs typeface="Times New Roman" panose="02020603050405020304" pitchFamily="18" charset="0"/>
              </a:rPr>
              <a:t>: React Router DOM v6.21 (Client-side routing)</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HTTP Client</a:t>
            </a:r>
            <a:r>
              <a:rPr lang="en-IN" sz="1600" dirty="0">
                <a:latin typeface="Times New Roman" panose="02020603050405020304" pitchFamily="18" charset="0"/>
                <a:ea typeface="Cambria" panose="02040503050406030204" pitchFamily="18" charset="0"/>
                <a:cs typeface="Times New Roman" panose="02020603050405020304" pitchFamily="18" charset="0"/>
              </a:rPr>
              <a:t>: Axios v1.6 (Promise-based HTTP client for API requests)</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Linting</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ESLint</a:t>
            </a:r>
            <a:r>
              <a:rPr lang="en-IN" sz="1600" dirty="0">
                <a:latin typeface="Times New Roman" panose="02020603050405020304" pitchFamily="18" charset="0"/>
                <a:ea typeface="Cambria" panose="02040503050406030204" pitchFamily="18" charset="0"/>
                <a:cs typeface="Times New Roman" panose="02020603050405020304" pitchFamily="18" charset="0"/>
              </a:rPr>
              <a:t> + TypeScript-</a:t>
            </a:r>
            <a:r>
              <a:rPr lang="en-IN" sz="1600" dirty="0" err="1">
                <a:latin typeface="Times New Roman" panose="02020603050405020304" pitchFamily="18" charset="0"/>
                <a:ea typeface="Cambria" panose="02040503050406030204" pitchFamily="18" charset="0"/>
                <a:cs typeface="Times New Roman" panose="02020603050405020304" pitchFamily="18" charset="0"/>
              </a:rPr>
              <a:t>ESLint</a:t>
            </a:r>
            <a:r>
              <a:rPr lang="en-IN" sz="1600" dirty="0">
                <a:latin typeface="Times New Roman" panose="02020603050405020304" pitchFamily="18" charset="0"/>
                <a:ea typeface="Cambria" panose="02040503050406030204" pitchFamily="18" charset="0"/>
                <a:cs typeface="Times New Roman" panose="02020603050405020304" pitchFamily="18" charset="0"/>
              </a:rPr>
              <a:t> (Code quality and consistency)</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3D9F-EC56-72F4-B85A-6EB1A3F70656}"/>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 (contd...)</a:t>
            </a:r>
            <a:endParaRPr lang="en-IN" dirty="0"/>
          </a:p>
        </p:txBody>
      </p:sp>
      <p:sp>
        <p:nvSpPr>
          <p:cNvPr id="3" name="Text Placeholder 2">
            <a:extLst>
              <a:ext uri="{FF2B5EF4-FFF2-40B4-BE49-F238E27FC236}">
                <a16:creationId xmlns:a16="http://schemas.microsoft.com/office/drawing/2014/main" id="{25E14101-4D63-0323-6108-FA825FFC96B6}"/>
              </a:ext>
            </a:extLst>
          </p:cNvPr>
          <p:cNvSpPr>
            <a:spLocks noGrp="1"/>
          </p:cNvSpPr>
          <p:nvPr>
            <p:ph type="body" idx="1"/>
          </p:nvPr>
        </p:nvSpPr>
        <p:spPr/>
        <p:txBody>
          <a:bodyPr>
            <a:normAutofit/>
          </a:bodyPr>
          <a:lstStyle/>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Backend (Server-Side)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Runtime Environment</a:t>
            </a:r>
            <a:r>
              <a:rPr lang="en-IN" sz="1600" dirty="0">
                <a:latin typeface="Times New Roman" panose="02020603050405020304" pitchFamily="18" charset="0"/>
                <a:ea typeface="Cambria" panose="02040503050406030204" pitchFamily="18" charset="0"/>
                <a:cs typeface="Times New Roman" panose="02020603050405020304" pitchFamily="18" charset="0"/>
              </a:rPr>
              <a:t>: Node.js (JavaScript runtime)</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Web Framework</a:t>
            </a:r>
            <a:r>
              <a:rPr lang="en-IN" sz="1600" dirty="0">
                <a:latin typeface="Times New Roman" panose="02020603050405020304" pitchFamily="18" charset="0"/>
                <a:ea typeface="Cambria" panose="02040503050406030204" pitchFamily="18" charset="0"/>
                <a:cs typeface="Times New Roman" panose="02020603050405020304" pitchFamily="18" charset="0"/>
              </a:rPr>
              <a:t>: Express.js v4.18 (RESTful API development)</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Language</a:t>
            </a:r>
            <a:r>
              <a:rPr lang="en-IN" sz="1600" dirty="0">
                <a:latin typeface="Times New Roman" panose="02020603050405020304" pitchFamily="18" charset="0"/>
                <a:ea typeface="Cambria" panose="02040503050406030204" pitchFamily="18" charset="0"/>
                <a:cs typeface="Times New Roman" panose="02020603050405020304" pitchFamily="18" charset="0"/>
              </a:rPr>
              <a:t>: TypeScript v5.3</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ORM (Object-Relational Mapping)</a:t>
            </a:r>
            <a:r>
              <a:rPr lang="en-IN" sz="1600" dirty="0">
                <a:latin typeface="Times New Roman" panose="02020603050405020304" pitchFamily="18" charset="0"/>
                <a:ea typeface="Cambria" panose="02040503050406030204" pitchFamily="18" charset="0"/>
                <a:cs typeface="Times New Roman" panose="02020603050405020304" pitchFamily="18" charset="0"/>
              </a:rPr>
              <a:t>: Prisma v5.8 (Type-safe database queries)</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Validation</a:t>
            </a:r>
            <a:r>
              <a:rPr lang="en-IN" sz="1600" dirty="0">
                <a:latin typeface="Times New Roman" panose="02020603050405020304" pitchFamily="18" charset="0"/>
                <a:ea typeface="Cambria" panose="02040503050406030204" pitchFamily="18" charset="0"/>
                <a:cs typeface="Times New Roman" panose="02020603050405020304" pitchFamily="18" charset="0"/>
              </a:rPr>
              <a:t>: Express-validator v7.0 (Incoming request validation)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File Export Engines</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dirty="0" err="1">
                <a:latin typeface="Times New Roman" panose="02020603050405020304" pitchFamily="18" charset="0"/>
                <a:ea typeface="Cambria" panose="02040503050406030204" pitchFamily="18" charset="0"/>
                <a:cs typeface="Times New Roman" panose="02020603050405020304" pitchFamily="18" charset="0"/>
              </a:rPr>
              <a:t>pdfkit</a:t>
            </a:r>
            <a:r>
              <a:rPr lang="en-IN" sz="1600" dirty="0">
                <a:latin typeface="Times New Roman" panose="02020603050405020304" pitchFamily="18" charset="0"/>
                <a:ea typeface="Cambria" panose="02040503050406030204" pitchFamily="18" charset="0"/>
                <a:cs typeface="Times New Roman" panose="02020603050405020304" pitchFamily="18" charset="0"/>
              </a:rPr>
              <a:t> v0.14 (PDF generation)</a:t>
            </a:r>
          </a:p>
          <a:p>
            <a:pPr lvl="1" algn="just"/>
            <a:r>
              <a:rPr lang="en-IN" sz="1600" dirty="0" err="1">
                <a:latin typeface="Times New Roman" panose="02020603050405020304" pitchFamily="18" charset="0"/>
                <a:ea typeface="Cambria" panose="02040503050406030204" pitchFamily="18" charset="0"/>
                <a:cs typeface="Times New Roman" panose="02020603050405020304" pitchFamily="18" charset="0"/>
              </a:rPr>
              <a:t>exceljs</a:t>
            </a:r>
            <a:r>
              <a:rPr lang="en-IN" sz="1600" dirty="0">
                <a:latin typeface="Times New Roman" panose="02020603050405020304" pitchFamily="18" charset="0"/>
                <a:ea typeface="Cambria" panose="02040503050406030204" pitchFamily="18" charset="0"/>
                <a:cs typeface="Times New Roman" panose="02020603050405020304" pitchFamily="18" charset="0"/>
              </a:rPr>
              <a:t> v4.4 (Excel spreadsheet generation)</a:t>
            </a:r>
          </a:p>
          <a:p>
            <a:pPr marL="76200" indent="0" algn="just">
              <a:buNone/>
            </a:pPr>
            <a:r>
              <a:rPr lang="en-IN" sz="1600" b="1" dirty="0">
                <a:latin typeface="Times New Roman" panose="02020603050405020304" pitchFamily="18" charset="0"/>
                <a:ea typeface="Cambria" panose="02040503050406030204" pitchFamily="18" charset="0"/>
                <a:cs typeface="Times New Roman" panose="02020603050405020304" pitchFamily="18" charset="0"/>
              </a:rPr>
              <a:t>Database &amp; Security</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Database</a:t>
            </a:r>
            <a:r>
              <a:rPr lang="en-IN" sz="1600" dirty="0">
                <a:latin typeface="Times New Roman" panose="02020603050405020304" pitchFamily="18" charset="0"/>
                <a:ea typeface="Cambria" panose="02040503050406030204" pitchFamily="18" charset="0"/>
                <a:cs typeface="Times New Roman" panose="02020603050405020304" pitchFamily="18" charset="0"/>
              </a:rPr>
              <a:t>: PostgreSQL (Relational Database System)</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Authentication</a:t>
            </a:r>
            <a:r>
              <a:rPr lang="en-IN" sz="1600" dirty="0">
                <a:latin typeface="Times New Roman" panose="02020603050405020304" pitchFamily="18" charset="0"/>
                <a:ea typeface="Cambria" panose="02040503050406030204" pitchFamily="18" charset="0"/>
                <a:cs typeface="Times New Roman" panose="02020603050405020304" pitchFamily="18" charset="0"/>
              </a:rPr>
              <a:t>: JSON Web Tokens (JWT) v9.0 (Stateless authentication)</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Encryption</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Bcrypt</a:t>
            </a:r>
            <a:r>
              <a:rPr lang="en-IN" sz="1600" dirty="0">
                <a:latin typeface="Times New Roman" panose="02020603050405020304" pitchFamily="18" charset="0"/>
                <a:ea typeface="Cambria" panose="02040503050406030204" pitchFamily="18" charset="0"/>
                <a:cs typeface="Times New Roman" panose="02020603050405020304" pitchFamily="18" charset="0"/>
              </a:rPr>
              <a:t> v5.1 (Password hashing)</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Environment Management</a:t>
            </a:r>
            <a:r>
              <a:rPr lang="en-IN" sz="1600" dirty="0">
                <a:latin typeface="Times New Roman" panose="02020603050405020304" pitchFamily="18" charset="0"/>
                <a:ea typeface="Cambria" panose="02040503050406030204" pitchFamily="18" charset="0"/>
                <a:cs typeface="Times New Roman" panose="02020603050405020304" pitchFamily="18" charset="0"/>
              </a:rPr>
              <a:t>: </a:t>
            </a:r>
            <a:r>
              <a:rPr lang="en-IN" sz="1600" dirty="0" err="1">
                <a:latin typeface="Times New Roman" panose="02020603050405020304" pitchFamily="18" charset="0"/>
                <a:ea typeface="Cambria" panose="02040503050406030204" pitchFamily="18" charset="0"/>
                <a:cs typeface="Times New Roman" panose="02020603050405020304" pitchFamily="18" charset="0"/>
              </a:rPr>
              <a:t>Dotenv</a:t>
            </a:r>
            <a:r>
              <a:rPr lang="en-IN" sz="1600" dirty="0">
                <a:latin typeface="Times New Roman" panose="02020603050405020304" pitchFamily="18" charset="0"/>
                <a:ea typeface="Cambria" panose="02040503050406030204" pitchFamily="18" charset="0"/>
                <a:cs typeface="Times New Roman" panose="02020603050405020304" pitchFamily="18" charset="0"/>
              </a:rPr>
              <a:t> v16.3 (Configuration management)</a:t>
            </a:r>
          </a:p>
          <a:p>
            <a:endParaRPr lang="en-IN" dirty="0"/>
          </a:p>
        </p:txBody>
      </p:sp>
    </p:spTree>
    <p:extLst>
      <p:ext uri="{BB962C8B-B14F-4D97-AF65-F5344CB8AC3E}">
        <p14:creationId xmlns:p14="http://schemas.microsoft.com/office/powerpoint/2010/main" val="3054036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(contd...)</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Software</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OS</a:t>
            </a:r>
            <a:r>
              <a:rPr lang="en-IN" sz="1600" dirty="0">
                <a:latin typeface="Times New Roman" panose="02020603050405020304" pitchFamily="18" charset="0"/>
                <a:ea typeface="Cambria" panose="02040503050406030204" pitchFamily="18" charset="0"/>
                <a:cs typeface="Times New Roman" panose="02020603050405020304" pitchFamily="18" charset="0"/>
              </a:rPr>
              <a:t>: Cross-platform (Windows/Linux/macOS) due to Node.js environment.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Database</a:t>
            </a:r>
            <a:r>
              <a:rPr lang="en-IN" sz="1600" dirty="0">
                <a:latin typeface="Times New Roman" panose="02020603050405020304" pitchFamily="18" charset="0"/>
                <a:ea typeface="Cambria" panose="02040503050406030204" pitchFamily="18" charset="0"/>
                <a:cs typeface="Times New Roman" panose="02020603050405020304" pitchFamily="18" charset="0"/>
              </a:rPr>
              <a:t>: PostgreSQL instance.</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Client</a:t>
            </a:r>
            <a:r>
              <a:rPr lang="en-IN" sz="1600" dirty="0">
                <a:latin typeface="Times New Roman" panose="02020603050405020304" pitchFamily="18" charset="0"/>
                <a:ea typeface="Cambria" panose="02040503050406030204" pitchFamily="18" charset="0"/>
                <a:cs typeface="Times New Roman" panose="02020603050405020304" pitchFamily="18" charset="0"/>
              </a:rPr>
              <a:t>: Modern Web Browser (Chrome/Edge) with JavaScript enabled.</a:t>
            </a:r>
          </a:p>
          <a:p>
            <a:pPr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Hardware (Server)</a:t>
            </a:r>
            <a:r>
              <a:rPr lang="en-IN" sz="1600" dirty="0">
                <a:latin typeface="Times New Roman" panose="02020603050405020304" pitchFamily="18" charset="0"/>
                <a:ea typeface="Cambria" panose="02040503050406030204" pitchFamily="18" charset="0"/>
                <a:cs typeface="Times New Roman" panose="02020603050405020304" pitchFamily="18" charset="0"/>
              </a:rPr>
              <a:t>:</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RAM</a:t>
            </a:r>
            <a:r>
              <a:rPr lang="en-IN" sz="1600" dirty="0">
                <a:latin typeface="Times New Roman" panose="02020603050405020304" pitchFamily="18" charset="0"/>
                <a:ea typeface="Cambria" panose="02040503050406030204" pitchFamily="18" charset="0"/>
                <a:cs typeface="Times New Roman" panose="02020603050405020304" pitchFamily="18" charset="0"/>
              </a:rPr>
              <a:t>: Minimum 4GB (to handle in-memory timetable generation arrays).</a:t>
            </a:r>
          </a:p>
          <a:p>
            <a:pPr lvl="1" algn="just"/>
            <a:r>
              <a:rPr lang="en-IN" sz="1600" b="1" dirty="0">
                <a:latin typeface="Times New Roman" panose="02020603050405020304" pitchFamily="18" charset="0"/>
                <a:ea typeface="Cambria" panose="02040503050406030204" pitchFamily="18" charset="0"/>
                <a:cs typeface="Times New Roman" panose="02020603050405020304" pitchFamily="18" charset="0"/>
              </a:rPr>
              <a:t>CPU</a:t>
            </a:r>
            <a:r>
              <a:rPr lang="en-IN" sz="1600" dirty="0">
                <a:latin typeface="Times New Roman" panose="02020603050405020304" pitchFamily="18" charset="0"/>
                <a:ea typeface="Cambria" panose="02040503050406030204" pitchFamily="18" charset="0"/>
                <a:cs typeface="Times New Roman" panose="02020603050405020304" pitchFamily="18" charset="0"/>
              </a:rPr>
              <a:t>: Multi-core processor recommended for concurrent generation requests.</a:t>
            </a: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(contd...)</a:t>
            </a:r>
          </a:p>
        </p:txBody>
      </p:sp>
      <p:sp>
        <p:nvSpPr>
          <p:cNvPr id="5" name="Text Placeholder 4">
            <a:extLst>
              <a:ext uri="{FF2B5EF4-FFF2-40B4-BE49-F238E27FC236}">
                <a16:creationId xmlns:a16="http://schemas.microsoft.com/office/drawing/2014/main" id="{6CA9A2A7-22E5-EE54-633E-C948CFA94EC9}"/>
              </a:ext>
            </a:extLst>
          </p:cNvPr>
          <p:cNvSpPr>
            <a:spLocks noGrp="1" noChangeArrowheads="1"/>
          </p:cNvSpPr>
          <p:nvPr>
            <p:ph type="body" idx="1"/>
          </p:nvPr>
        </p:nvSpPr>
        <p:spPr bwMode="auto">
          <a:xfrm>
            <a:off x="706582" y="1115339"/>
            <a:ext cx="10312858" cy="303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Algorithm Approach</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Randomized Heuristic Search (Greedy approach with multiple attempts).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Workflow</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Initialization</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The system defines working days (Mon-Fri) and standard time slots (09:00 - 17:15).</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Constraint Checking</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Capacity Check</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classroom.capacity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&lt;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requiredCapacity</a:t>
            </a:r>
            <a:endPar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600" b="0" i="1"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Faculty Availability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Verifies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maxClassesPerDay</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limits.</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Conflict Detection</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Uses a Hash Map (Map&lt;string, Set&lt;string&gt;&gt;)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to track occupied slots for Batches, Faculties, and Rooms in $O(1)$ time.</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Scoring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Score= 100 - (Violations * 10) - (Variance*2) + (Utilization*10)</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Note: </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The formula above is derived from the logic in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calculateScore</a:t>
            </a:r>
            <a:r>
              <a:rPr kumimoji="0" lang="en-US" altLang="en-US" sz="16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method.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AB3C-DB52-BF94-0527-4D4DA91A5E6A}"/>
              </a:ext>
            </a:extLst>
          </p:cNvPr>
          <p:cNvSpPr>
            <a:spLocks noGrp="1"/>
          </p:cNvSpPr>
          <p:nvPr>
            <p:ph type="title"/>
          </p:nvPr>
        </p:nvSpPr>
        <p:spPr>
          <a:xfrm>
            <a:off x="812800" y="370390"/>
            <a:ext cx="10668000" cy="937548"/>
          </a:xfrm>
        </p:spPr>
        <p:txBody>
          <a:bodyPr/>
          <a:lstStyle/>
          <a:p>
            <a:r>
              <a:rPr lang="en-US" dirty="0">
                <a:latin typeface="Cambria" panose="02040503050406030204" pitchFamily="18" charset="0"/>
                <a:ea typeface="Cambria" panose="02040503050406030204" pitchFamily="18" charset="0"/>
                <a:cs typeface="Times New Roman" panose="02020603050405020304" pitchFamily="18" charset="0"/>
              </a:rPr>
              <a:t>Proposed method and feasibility study</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sp>
        <p:nvSpPr>
          <p:cNvPr id="3" name="Text Placeholder 2">
            <a:extLst>
              <a:ext uri="{FF2B5EF4-FFF2-40B4-BE49-F238E27FC236}">
                <a16:creationId xmlns:a16="http://schemas.microsoft.com/office/drawing/2014/main" id="{EAFB011A-1204-7010-F2AD-0CC4B48D1CFB}"/>
              </a:ext>
            </a:extLst>
          </p:cNvPr>
          <p:cNvSpPr>
            <a:spLocks noGrp="1"/>
          </p:cNvSpPr>
          <p:nvPr>
            <p:ph type="body" idx="1"/>
          </p:nvPr>
        </p:nvSpPr>
        <p:spPr/>
        <p:txBody>
          <a:bodyPr>
            <a:normAutofit/>
          </a:bodyPr>
          <a:lstStyle/>
          <a:p>
            <a:pPr marL="76200" indent="0" algn="just">
              <a:buNone/>
            </a:pPr>
            <a:r>
              <a:rPr lang="en-US" sz="1600" b="1" dirty="0">
                <a:latin typeface="Times New Roman" panose="02020603050405020304" pitchFamily="18" charset="0"/>
                <a:cs typeface="Times New Roman" panose="02020603050405020304" pitchFamily="18" charset="0"/>
              </a:rPr>
              <a:t>Proposed Method: Constraint-Based Heuristic Algorithm</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utilizes an iterative, greedy approach with randomization:</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Initialization</a:t>
            </a:r>
            <a:r>
              <a:rPr lang="en-US" sz="1600" dirty="0">
                <a:latin typeface="Times New Roman" panose="02020603050405020304" pitchFamily="18" charset="0"/>
                <a:cs typeface="Times New Roman" panose="02020603050405020304" pitchFamily="18" charset="0"/>
              </a:rPr>
              <a:t>: Creates a 5-day × 7-slot grid.</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Fixed-Slot Priority</a:t>
            </a:r>
            <a:r>
              <a:rPr lang="en-US" sz="1600" dirty="0">
                <a:latin typeface="Times New Roman" panose="02020603050405020304" pitchFamily="18" charset="0"/>
                <a:cs typeface="Times New Roman" panose="02020603050405020304" pitchFamily="18" charset="0"/>
              </a:rPr>
              <a:t>: Schedules pre-assigned classes first to ensure mandatory slots are honored.</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Iterative Placement</a:t>
            </a:r>
            <a:r>
              <a:rPr lang="en-US" sz="1600" dirty="0">
                <a:latin typeface="Times New Roman" panose="02020603050405020304" pitchFamily="18" charset="0"/>
                <a:cs typeface="Times New Roman" panose="02020603050405020304" pitchFamily="18" charset="0"/>
              </a:rPr>
              <a:t>: Uses a "Shuffled Batch" order to attempt class placements, validating against hard constraints (faculty/room availability) at every step.</a:t>
            </a:r>
          </a:p>
          <a:p>
            <a:pPr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Overlapping Logic</a:t>
            </a:r>
            <a:r>
              <a:rPr lang="en-US" sz="1600" dirty="0">
                <a:latin typeface="Times New Roman" panose="02020603050405020304" pitchFamily="18" charset="0"/>
                <a:cs typeface="Times New Roman" panose="02020603050405020304" pitchFamily="18" charset="0"/>
              </a:rPr>
              <a:t>: For practical sessions, the system blocks the primary slot and all overlapping 1-hour slots to ensure total room/faculty exclusivity.</a:t>
            </a:r>
          </a:p>
          <a:p>
            <a:pPr marL="76200" indent="0" algn="just">
              <a:buNone/>
            </a:pPr>
            <a:r>
              <a:rPr lang="en-US" sz="1600" b="1" dirty="0">
                <a:latin typeface="Times New Roman" panose="02020603050405020304" pitchFamily="18" charset="0"/>
                <a:cs typeface="Times New Roman" panose="02020603050405020304" pitchFamily="18" charset="0"/>
              </a:rPr>
              <a:t>Feasibility Study</a:t>
            </a:r>
          </a:p>
          <a:p>
            <a:pPr algn="just"/>
            <a:r>
              <a:rPr lang="en-US" sz="1600" b="1" dirty="0">
                <a:latin typeface="Times New Roman" panose="02020603050405020304" pitchFamily="18" charset="0"/>
                <a:cs typeface="Times New Roman" panose="02020603050405020304" pitchFamily="18" charset="0"/>
              </a:rPr>
              <a:t>Technical Feasibility</a:t>
            </a:r>
            <a:r>
              <a:rPr lang="en-US" sz="1600" dirty="0">
                <a:latin typeface="Times New Roman" panose="02020603050405020304" pitchFamily="18" charset="0"/>
                <a:cs typeface="Times New Roman" panose="02020603050405020304" pitchFamily="18" charset="0"/>
              </a:rPr>
              <a:t>: The project uses a modern PERN stack (PostgreSQL, Express, React, Node) and TypeScript, which provides the type safety and performance required for complex calculations.</a:t>
            </a:r>
          </a:p>
          <a:p>
            <a:pPr algn="just"/>
            <a:r>
              <a:rPr lang="en-US" sz="1600" b="1" dirty="0">
                <a:latin typeface="Times New Roman" panose="02020603050405020304" pitchFamily="18" charset="0"/>
                <a:cs typeface="Times New Roman" panose="02020603050405020304" pitchFamily="18" charset="0"/>
              </a:rPr>
              <a:t>Operational Feasibility</a:t>
            </a:r>
            <a:r>
              <a:rPr lang="en-US" sz="1600" dirty="0">
                <a:latin typeface="Times New Roman" panose="02020603050405020304" pitchFamily="18" charset="0"/>
                <a:cs typeface="Times New Roman" panose="02020603050405020304" pitchFamily="18" charset="0"/>
              </a:rPr>
              <a:t>: With a setup time of under 10 minutes and pre-configured seed data, the system is easily deployable for educational institutions.</a:t>
            </a:r>
          </a:p>
          <a:p>
            <a:pPr algn="just"/>
            <a:r>
              <a:rPr lang="en-US" sz="1600" b="1" dirty="0">
                <a:latin typeface="Times New Roman" panose="02020603050405020304" pitchFamily="18" charset="0"/>
                <a:cs typeface="Times New Roman" panose="02020603050405020304" pitchFamily="18" charset="0"/>
              </a:rPr>
              <a:t>Algorithm Efficiency</a:t>
            </a:r>
            <a:r>
              <a:rPr lang="en-US" sz="1600" dirty="0">
                <a:latin typeface="Times New Roman" panose="02020603050405020304" pitchFamily="18" charset="0"/>
                <a:cs typeface="Times New Roman" panose="02020603050405020304" pitchFamily="18" charset="0"/>
              </a:rPr>
              <a:t>: The time complexity is O(n × m × s), making it efficient enough to generate multiple options in real-time for small-to-medium-sized departments.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34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FA8A-4675-4A2A-73FB-042E4445D1F2}"/>
              </a:ext>
            </a:extLst>
          </p:cNvPr>
          <p:cNvSpPr>
            <a:spLocks noGrp="1"/>
          </p:cNvSpPr>
          <p:nvPr>
            <p:ph type="title"/>
          </p:nvPr>
        </p:nvSpPr>
        <p:spPr>
          <a:xfrm>
            <a:off x="812800" y="432619"/>
            <a:ext cx="10668000" cy="710381"/>
          </a:xfrm>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IN" dirty="0"/>
          </a:p>
        </p:txBody>
      </p:sp>
      <p:pic>
        <p:nvPicPr>
          <p:cNvPr id="5" name="Picture 4">
            <a:extLst>
              <a:ext uri="{FF2B5EF4-FFF2-40B4-BE49-F238E27FC236}">
                <a16:creationId xmlns:a16="http://schemas.microsoft.com/office/drawing/2014/main" id="{E8480C66-3134-1A47-16BD-3A2E9E43ED1B}"/>
              </a:ext>
            </a:extLst>
          </p:cNvPr>
          <p:cNvPicPr>
            <a:picLocks noChangeAspect="1"/>
          </p:cNvPicPr>
          <p:nvPr/>
        </p:nvPicPr>
        <p:blipFill>
          <a:blip r:embed="rId2"/>
          <a:stretch>
            <a:fillRect/>
          </a:stretch>
        </p:blipFill>
        <p:spPr>
          <a:xfrm>
            <a:off x="943897" y="1258528"/>
            <a:ext cx="10536903" cy="4896465"/>
          </a:xfrm>
          <a:prstGeom prst="rect">
            <a:avLst/>
          </a:prstGeom>
        </p:spPr>
      </p:pic>
    </p:spTree>
    <p:extLst>
      <p:ext uri="{BB962C8B-B14F-4D97-AF65-F5344CB8AC3E}">
        <p14:creationId xmlns:p14="http://schemas.microsoft.com/office/powerpoint/2010/main" val="3039185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err="1">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Github</a:t>
            </a:r>
            <a:r>
              <a:rPr lang="en-US" b="1"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Link</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hlinkClick r:id="rId3"/>
              </a:rPr>
              <a:t>https://github.com/Span-09/Smart-Classroom-and-Timetable-Scheduler-</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Visibility : Public</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964276" y="1346662"/>
            <a:ext cx="9493135" cy="377397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b="1"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86F09162-ADB5-32CA-003B-A317E702FD7A}"/>
              </a:ext>
            </a:extLst>
          </p:cNvPr>
          <p:cNvPicPr>
            <a:picLocks noChangeAspect="1"/>
          </p:cNvPicPr>
          <p:nvPr/>
        </p:nvPicPr>
        <p:blipFill>
          <a:blip r:embed="rId3"/>
          <a:stretch>
            <a:fillRect/>
          </a:stretch>
        </p:blipFill>
        <p:spPr>
          <a:xfrm>
            <a:off x="964277" y="1346662"/>
            <a:ext cx="9894224" cy="4297680"/>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r>
              <a:rPr lang="en-IN" sz="1800" b="1" dirty="0">
                <a:latin typeface="Cambria" panose="02040503050406030204" pitchFamily="18" charset="0"/>
                <a:ea typeface="Cambria" panose="02040503050406030204" pitchFamily="18" charset="0"/>
              </a:rPr>
              <a:t>[1]</a:t>
            </a:r>
            <a:r>
              <a:rPr lang="en-IN" sz="1800" dirty="0">
                <a:latin typeface="Cambria" panose="02040503050406030204" pitchFamily="18" charset="0"/>
                <a:ea typeface="Cambria" panose="02040503050406030204" pitchFamily="18" charset="0"/>
              </a:rPr>
              <a:t> S. A. K. Al-Hajri, "Automating Timetable Generation with Conflict Resolution Algorithms in Web-Based Systems for Educational Institutions," </a:t>
            </a:r>
            <a:r>
              <a:rPr lang="en-IN" sz="1800" i="1" dirty="0">
                <a:latin typeface="Cambria" panose="02040503050406030204" pitchFamily="18" charset="0"/>
                <a:ea typeface="Cambria" panose="02040503050406030204" pitchFamily="18" charset="0"/>
              </a:rPr>
              <a:t>2023 Intelligent Computing and Control for Engineering and Business Systems (ICCEBS)</a:t>
            </a:r>
            <a:r>
              <a:rPr lang="en-IN" sz="1800" dirty="0">
                <a:latin typeface="Cambria" panose="02040503050406030204" pitchFamily="18" charset="0"/>
                <a:ea typeface="Cambria" panose="02040503050406030204" pitchFamily="18" charset="0"/>
              </a:rPr>
              <a:t>, Bangalore, India, 2023, pp. 1-6.</a:t>
            </a:r>
          </a:p>
          <a:p>
            <a:r>
              <a:rPr lang="en-IN" sz="1800" b="1" dirty="0">
                <a:latin typeface="Cambria" panose="02040503050406030204" pitchFamily="18" charset="0"/>
                <a:ea typeface="Cambria" panose="02040503050406030204" pitchFamily="18" charset="0"/>
              </a:rPr>
              <a:t>[2]</a:t>
            </a:r>
            <a:r>
              <a:rPr lang="en-IN" sz="1800" dirty="0">
                <a:latin typeface="Cambria" panose="02040503050406030204" pitchFamily="18" charset="0"/>
                <a:ea typeface="Cambria" panose="02040503050406030204" pitchFamily="18" charset="0"/>
              </a:rPr>
              <a:t> Z. L. Tan et al., "A Survey of University Course Timetabling Problem: Perspectives, Trends and Opportunities," </a:t>
            </a:r>
            <a:r>
              <a:rPr lang="en-IN" sz="1800" i="1" dirty="0">
                <a:latin typeface="Cambria" panose="02040503050406030204" pitchFamily="18" charset="0"/>
                <a:ea typeface="Cambria" panose="02040503050406030204" pitchFamily="18" charset="0"/>
              </a:rPr>
              <a:t>IEEE Access</a:t>
            </a:r>
            <a:r>
              <a:rPr lang="en-IN" sz="1800" dirty="0">
                <a:latin typeface="Cambria" panose="02040503050406030204" pitchFamily="18" charset="0"/>
                <a:ea typeface="Cambria" panose="02040503050406030204" pitchFamily="18" charset="0"/>
              </a:rPr>
              <a:t>, vol. 9, pp. 12111-12125, 2021.</a:t>
            </a:r>
          </a:p>
          <a:p>
            <a:r>
              <a:rPr lang="en-IN" sz="1800" b="1" dirty="0">
                <a:latin typeface="Cambria" panose="02040503050406030204" pitchFamily="18" charset="0"/>
                <a:ea typeface="Cambria" panose="02040503050406030204" pitchFamily="18" charset="0"/>
              </a:rPr>
              <a:t>[3]</a:t>
            </a:r>
            <a:r>
              <a:rPr lang="en-IN" sz="1800" dirty="0">
                <a:latin typeface="Cambria" panose="02040503050406030204" pitchFamily="18" charset="0"/>
                <a:ea typeface="Cambria" panose="02040503050406030204" pitchFamily="18" charset="0"/>
              </a:rPr>
              <a:t> M. A. Al-Betar et al., "Automated Timetabling System for University Course," </a:t>
            </a:r>
            <a:r>
              <a:rPr lang="en-IN" sz="1800" i="1" dirty="0">
                <a:latin typeface="Cambria" panose="02040503050406030204" pitchFamily="18" charset="0"/>
                <a:ea typeface="Cambria" panose="02040503050406030204" pitchFamily="18" charset="0"/>
              </a:rPr>
              <a:t>2021 International Conference on Emerging Smart Computing and Informatics (ESCI)</a:t>
            </a:r>
            <a:r>
              <a:rPr lang="en-IN" sz="1800" dirty="0">
                <a:latin typeface="Cambria" panose="02040503050406030204" pitchFamily="18" charset="0"/>
                <a:ea typeface="Cambria" panose="02040503050406030204" pitchFamily="18" charset="0"/>
              </a:rPr>
              <a:t>, Pune, India, 2021, pp. 45-50.</a:t>
            </a:r>
          </a:p>
          <a:p>
            <a:pPr marL="76200" indent="0">
              <a:buNone/>
            </a:pPr>
            <a:br>
              <a:rPr lang="en-IN" sz="1800" dirty="0">
                <a:latin typeface="Cambria" panose="02040503050406030204" pitchFamily="18" charset="0"/>
                <a:ea typeface="Cambria" panose="02040503050406030204" pitchFamily="18" charset="0"/>
              </a:rPr>
            </a:br>
            <a:endParaRPr sz="1800"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TotalTime>
  <Words>1284</Words>
  <Application>Microsoft Office PowerPoint</Application>
  <PresentationFormat>Widescreen</PresentationFormat>
  <Paragraphs>142</Paragraphs>
  <Slides>15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SMART CLASSROOM AND TIMETABLE SCHEDULAR</vt:lpstr>
      <vt:lpstr>Problem Statement Number: 25028</vt:lpstr>
      <vt:lpstr>Problem Statement Number: 25028</vt:lpstr>
      <vt:lpstr>Content</vt:lpstr>
      <vt:lpstr>Objectives </vt:lpstr>
      <vt:lpstr>Analysis of Problem Statement</vt:lpstr>
      <vt:lpstr>Analysis of Problem Statement (contd...)</vt:lpstr>
      <vt:lpstr>Analysis of Problem Statement (contd...)</vt:lpstr>
      <vt:lpstr>Analysis of Problem Statement (contd...)</vt:lpstr>
      <vt:lpstr>Proposed method and feasibility study </vt:lpstr>
      <vt:lpstr>Architecture Diagram </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Misba Ain</cp:lastModifiedBy>
  <cp:revision>52</cp:revision>
  <dcterms:modified xsi:type="dcterms:W3CDTF">2026-01-27T05:26:41Z</dcterms:modified>
</cp:coreProperties>
</file>