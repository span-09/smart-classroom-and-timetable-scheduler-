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69" r:id="rId3"/>
    <p:sldId id="275" r:id="rId4"/>
    <p:sldId id="257" r:id="rId5"/>
    <p:sldId id="277" r:id="rId6"/>
    <p:sldId id="271" r:id="rId7"/>
    <p:sldId id="276" r:id="rId8"/>
    <p:sldId id="272" r:id="rId9"/>
    <p:sldId id="273" r:id="rId10"/>
    <p:sldId id="279" r:id="rId11"/>
    <p:sldId id="280" r:id="rId12"/>
    <p:sldId id="278" r:id="rId13"/>
    <p:sldId id="281" r:id="rId14"/>
    <p:sldId id="282" r:id="rId15"/>
    <p:sldId id="268" r:id="rId16"/>
    <p:sldId id="270" r:id="rId17"/>
    <p:sldId id="265"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22" autoAdjust="0"/>
    <p:restoredTop sz="94660"/>
  </p:normalViewPr>
  <p:slideViewPr>
    <p:cSldViewPr snapToGrid="0">
      <p:cViewPr varScale="1">
        <p:scale>
          <a:sx n="78" d="100"/>
          <a:sy n="78" d="100"/>
        </p:scale>
        <p:origin x="78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pan-09/Smart-Classroom-and-Timetable-Scheduler-"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a:solidFill>
                  <a:schemeClr val="tx1"/>
                </a:solidFill>
                <a:latin typeface="Cambria" panose="02040503050406030204" pitchFamily="18" charset="0"/>
                <a:ea typeface="Cambria" panose="02040503050406030204" pitchFamily="18" charset="0"/>
              </a:rPr>
              <a:t>TIMEFORGE: SMART TIMETABLE </a:t>
            </a:r>
            <a:r>
              <a:rPr lang="en-US" sz="2400" dirty="0">
                <a:solidFill>
                  <a:schemeClr val="tx1"/>
                </a:solidFill>
                <a:latin typeface="Cambria" panose="02040503050406030204" pitchFamily="18" charset="0"/>
                <a:ea typeface="Cambria" panose="02040503050406030204" pitchFamily="18" charset="0"/>
              </a:rPr>
              <a:t>SCHEDULAR</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GB" sz="1800">
                <a:latin typeface="Cambria" panose="02040503050406030204" pitchFamily="18" charset="0"/>
                <a:ea typeface="Cambria" panose="02040503050406030204" pitchFamily="18" charset="0"/>
              </a:rPr>
              <a:t>: 95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IN"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IN" sz="1700" b="1" dirty="0">
                <a:solidFill>
                  <a:srgbClr val="17365D"/>
                </a:solidFill>
                <a:latin typeface="Cambria" panose="02040503050406030204" pitchFamily="18" charset="0"/>
                <a:ea typeface="Cambria" panose="02040503050406030204" pitchFamily="18" charset="0"/>
                <a:cs typeface="Verdana"/>
                <a:sym typeface="Verdana"/>
              </a:rPr>
              <a:t>Syed Mohsin Abbasi</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4127822183"/>
              </p:ext>
            </p:extLst>
          </p:nvPr>
        </p:nvGraphicFramePr>
        <p:xfrm>
          <a:off x="197505" y="2721840"/>
          <a:ext cx="5774517" cy="1828850"/>
        </p:xfrm>
        <a:graphic>
          <a:graphicData uri="http://schemas.openxmlformats.org/drawingml/2006/table">
            <a:tbl>
              <a:tblPr firstRow="1" bandRow="1">
                <a:noFill/>
                <a:tableStyleId>{57690726-49DA-4552-BDEB-330DD8EA8BD9}</a:tableStyleId>
              </a:tblPr>
              <a:tblGrid>
                <a:gridCol w="2221921">
                  <a:extLst>
                    <a:ext uri="{9D8B030D-6E8A-4147-A177-3AD203B41FA5}">
                      <a16:colId xmlns:a16="http://schemas.microsoft.com/office/drawing/2014/main" val="20000"/>
                    </a:ext>
                  </a:extLst>
                </a:gridCol>
                <a:gridCol w="3552596">
                  <a:extLst>
                    <a:ext uri="{9D8B030D-6E8A-4147-A177-3AD203B41FA5}">
                      <a16:colId xmlns:a16="http://schemas.microsoft.com/office/drawing/2014/main" val="20001"/>
                    </a:ext>
                  </a:extLst>
                </a:gridCol>
              </a:tblGrid>
              <a:tr h="266144">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66144">
                <a:tc>
                  <a:txBody>
                    <a:bodyPr/>
                    <a:lstStyle/>
                    <a:p>
                      <a:pPr marL="0" marR="0" lvl="0" indent="0" algn="ctr" rtl="0">
                        <a:spcBef>
                          <a:spcPts val="0"/>
                        </a:spcBef>
                        <a:spcAft>
                          <a:spcPts val="0"/>
                        </a:spcAft>
                        <a:buFont typeface="+mj-lt"/>
                        <a:buNone/>
                      </a:pPr>
                      <a:r>
                        <a:rPr lang="en-IN" sz="1800" u="none" strike="noStrike" cap="none" dirty="0"/>
                        <a:t>20221CSE0359       </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Spandana K G</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66144">
                <a:tc>
                  <a:txBody>
                    <a:bodyPr/>
                    <a:lstStyle/>
                    <a:p>
                      <a:pPr marL="0" marR="0" lvl="0" indent="0" algn="ctr" rtl="0">
                        <a:spcBef>
                          <a:spcPts val="0"/>
                        </a:spcBef>
                        <a:spcAft>
                          <a:spcPts val="0"/>
                        </a:spcAft>
                        <a:buNone/>
                      </a:pPr>
                      <a:r>
                        <a:rPr lang="en-IN" sz="1800" u="none" strike="noStrike" cap="none" dirty="0"/>
                        <a:t>20221CSE0256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Misba Ain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6614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66144">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School of Computer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Asif Mohammed</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Dr. </a:t>
            </a:r>
            <a:r>
              <a:rPr lang="en-US" sz="1800" b="1" dirty="0" err="1">
                <a:solidFill>
                  <a:srgbClr val="FF0000"/>
                </a:solidFill>
                <a:latin typeface="Cambria" panose="02040503050406030204" pitchFamily="18" charset="0"/>
                <a:ea typeface="Cambria" panose="02040503050406030204" pitchFamily="18" charset="0"/>
                <a:cs typeface="Verdana"/>
                <a:sym typeface="Verdana"/>
              </a:rPr>
              <a:t>Jayavadivel</a:t>
            </a:r>
            <a:r>
              <a:rPr lang="en-US" sz="1800" b="1" dirty="0">
                <a:solidFill>
                  <a:srgbClr val="FF0000"/>
                </a:solidFill>
                <a:latin typeface="Cambria" panose="02040503050406030204" pitchFamily="18" charset="0"/>
                <a:ea typeface="Cambria" panose="02040503050406030204" pitchFamily="18" charset="0"/>
                <a:cs typeface="Verdana"/>
                <a:sym typeface="Verdana"/>
              </a:rPr>
              <a:t> Ravi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904240" y="274499"/>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25028</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Organization: Smart Education</a:t>
            </a:r>
          </a:p>
          <a:p>
            <a:pPr marL="342900" indent="-190500" algn="just">
              <a:spcBef>
                <a:spcPts val="0"/>
              </a:spcBef>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Category : Software</a:t>
            </a:r>
          </a:p>
          <a:p>
            <a:pPr marL="342900" indent="-190500" algn="just">
              <a:spcBef>
                <a:spcPts val="0"/>
              </a:spcBef>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Problem Description:</a:t>
            </a:r>
          </a:p>
          <a:p>
            <a:pPr marL="342900" indent="-190500" algn="just">
              <a:spcBef>
                <a:spcPts val="0"/>
              </a:spcBef>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Background</a:t>
            </a:r>
          </a:p>
          <a:p>
            <a:pPr marL="342900" lvl="0" indent="-190500" algn="just">
              <a:spcBef>
                <a:spcPts val="0"/>
              </a:spcBef>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None/>
            </a:pPr>
            <a:r>
              <a:rPr lang="en-US" sz="1700" dirty="0">
                <a:latin typeface="Times New Roman" panose="02020603050405020304" pitchFamily="18" charset="0"/>
                <a:ea typeface="Cambria" panose="02040503050406030204" pitchFamily="18" charset="0"/>
                <a:cs typeface="Times New Roman" panose="02020603050405020304" pitchFamily="18" charset="0"/>
              </a:rPr>
              <a:t>Higher Education institutions often face challenges in efficient class scheduling due to limited infrastructure, faculty constraints, elective courses, and overlapping departmental requirements. Manual timetable preparation leads to frequent clashes in classes, underutilized classrooms, uneven workload distribution, and dissatisfied students and faculty members. With the increasing adoption of multidisciplinary curricula and flexible learning under NEP 2020, the class scheduling process has Become more complex and dynamic, requiring intelligent and adaptive solutions.</a:t>
            </a:r>
          </a:p>
          <a:p>
            <a:pPr marL="342900" lvl="0" indent="-190500" algn="just">
              <a:spcBef>
                <a:spcPts val="0"/>
              </a:spcBef>
              <a:buNone/>
            </a:pPr>
            <a:endParaRPr lang="en-US" sz="1700"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None/>
            </a:pPr>
            <a:r>
              <a:rPr lang="en-US" sz="1700" b="1" dirty="0">
                <a:latin typeface="Times New Roman" panose="02020603050405020304" pitchFamily="18" charset="0"/>
                <a:ea typeface="Cambria" panose="02040503050406030204" pitchFamily="18" charset="0"/>
                <a:cs typeface="Times New Roman" panose="02020603050405020304" pitchFamily="18" charset="0"/>
              </a:rPr>
              <a:t>Description</a:t>
            </a:r>
          </a:p>
          <a:p>
            <a:pPr marL="342900" lvl="0" indent="-190500" algn="just">
              <a:spcBef>
                <a:spcPts val="0"/>
              </a:spcBef>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None/>
            </a:pPr>
            <a:r>
              <a:rPr lang="en-US" sz="1700" dirty="0">
                <a:latin typeface="Times New Roman" panose="02020603050405020304" pitchFamily="18" charset="0"/>
                <a:ea typeface="Cambria" panose="02040503050406030204" pitchFamily="18" charset="0"/>
                <a:cs typeface="Times New Roman" panose="02020603050405020304" pitchFamily="18" charset="0"/>
              </a:rPr>
              <a:t>The current scheduling mechanism in most higher education institutes/colleges relies on manual input via spreadsheets or basic tools. These fail to account for real-time availability of faculty, room capacity, teaching load norms, subject combinations, and student preferences. A solution is required that will accommodate the various parameters required for scheduling classes for UG and PG students and return an optimized timetable ensuring:</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6F4D0-FF08-C220-D217-C41B7D241625}"/>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Problem Statement Number: 25028</a:t>
            </a:r>
            <a:endParaRPr lang="en-IN" dirty="0"/>
          </a:p>
        </p:txBody>
      </p:sp>
      <p:sp>
        <p:nvSpPr>
          <p:cNvPr id="3" name="Text Placeholder 2">
            <a:extLst>
              <a:ext uri="{FF2B5EF4-FFF2-40B4-BE49-F238E27FC236}">
                <a16:creationId xmlns:a16="http://schemas.microsoft.com/office/drawing/2014/main" id="{0BA3DC39-9717-A571-CA4B-2FD6D7C8EE87}"/>
              </a:ext>
            </a:extLst>
          </p:cNvPr>
          <p:cNvSpPr>
            <a:spLocks noGrp="1"/>
          </p:cNvSpPr>
          <p:nvPr>
            <p:ph type="body" idx="1"/>
          </p:nvPr>
        </p:nvSpPr>
        <p:spPr/>
        <p:txBody>
          <a:bodyPr>
            <a:normAutofit/>
          </a:bodyPr>
          <a:lstStyle/>
          <a:p>
            <a:pPr marL="76200" indent="0" algn="just">
              <a:buNone/>
            </a:pPr>
            <a:r>
              <a:rPr lang="en-US" sz="1600" dirty="0">
                <a:latin typeface="Times New Roman" panose="02020603050405020304" pitchFamily="18" charset="0"/>
                <a:ea typeface="Cambria" panose="02040503050406030204" pitchFamily="18" charset="0"/>
                <a:cs typeface="Times New Roman" panose="02020603050405020304" pitchFamily="18" charset="0"/>
              </a:rPr>
              <a:t>*Maximized utilization of classrooms and laboratories</a:t>
            </a:r>
          </a:p>
          <a:p>
            <a:pPr marL="76200" indent="0" algn="just">
              <a:buNone/>
            </a:pPr>
            <a:r>
              <a:rPr lang="en-US" sz="1600" dirty="0">
                <a:latin typeface="Times New Roman" panose="02020603050405020304" pitchFamily="18" charset="0"/>
                <a:ea typeface="Cambria" panose="02040503050406030204" pitchFamily="18" charset="0"/>
                <a:cs typeface="Times New Roman" panose="02020603050405020304" pitchFamily="18" charset="0"/>
              </a:rPr>
              <a:t>*Minimized workload on faculty members and students</a:t>
            </a:r>
          </a:p>
          <a:p>
            <a:pPr marL="76200" indent="0" algn="just">
              <a:buNone/>
            </a:pPr>
            <a:r>
              <a:rPr lang="en-US" sz="1600" dirty="0">
                <a:latin typeface="Times New Roman" panose="02020603050405020304" pitchFamily="18" charset="0"/>
                <a:ea typeface="Cambria" panose="02040503050406030204" pitchFamily="18" charset="0"/>
                <a:cs typeface="Times New Roman" panose="02020603050405020304" pitchFamily="18" charset="0"/>
              </a:rPr>
              <a:t>* Achievement of required learning outcomes  </a:t>
            </a:r>
          </a:p>
          <a:p>
            <a:pPr marL="76200" indent="0" algn="just">
              <a:buNone/>
            </a:pPr>
            <a:r>
              <a:rPr lang="en-US" sz="1600" b="1" dirty="0">
                <a:latin typeface="Times New Roman" panose="02020603050405020304" pitchFamily="18" charset="0"/>
                <a:ea typeface="Cambria" panose="02040503050406030204" pitchFamily="18" charset="0"/>
                <a:cs typeface="Times New Roman" panose="02020603050405020304" pitchFamily="18" charset="0"/>
              </a:rPr>
              <a:t>Key Parameters</a:t>
            </a:r>
          </a:p>
          <a:p>
            <a:pPr marL="76200" indent="0" algn="just">
              <a:buNone/>
            </a:pPr>
            <a:r>
              <a:rPr lang="en-US" sz="1600" dirty="0">
                <a:latin typeface="Times New Roman" panose="02020603050405020304" pitchFamily="18" charset="0"/>
                <a:cs typeface="Times New Roman" panose="02020603050405020304" pitchFamily="18" charset="0"/>
              </a:rPr>
              <a:t>The following parameters can be taken into account as variables for creating optimized timetables:</a:t>
            </a:r>
          </a:p>
          <a:p>
            <a:pPr algn="just">
              <a:buFontTx/>
              <a:buChar char="-"/>
            </a:pPr>
            <a:r>
              <a:rPr lang="en-US" sz="1600" dirty="0">
                <a:latin typeface="Times New Roman" panose="02020603050405020304" pitchFamily="18" charset="0"/>
                <a:cs typeface="Times New Roman" panose="02020603050405020304" pitchFamily="18" charset="0"/>
              </a:rPr>
              <a:t>Number of classrooms available</a:t>
            </a:r>
          </a:p>
          <a:p>
            <a:pPr algn="just">
              <a:buFontTx/>
              <a:buChar char="-"/>
            </a:pPr>
            <a:r>
              <a:rPr lang="en-US" sz="1600" dirty="0">
                <a:latin typeface="Times New Roman" panose="02020603050405020304" pitchFamily="18" charset="0"/>
                <a:cs typeface="Times New Roman" panose="02020603050405020304" pitchFamily="18" charset="0"/>
              </a:rPr>
              <a:t>Number of batches of students</a:t>
            </a:r>
          </a:p>
          <a:p>
            <a:pPr algn="just">
              <a:buFontTx/>
              <a:buChar char="-"/>
            </a:pPr>
            <a:r>
              <a:rPr lang="en-US" sz="1600" dirty="0">
                <a:latin typeface="Times New Roman" panose="02020603050405020304" pitchFamily="18" charset="0"/>
                <a:cs typeface="Times New Roman" panose="02020603050405020304" pitchFamily="18" charset="0"/>
              </a:rPr>
              <a:t>Number of subjects to be taught in a particular semester</a:t>
            </a:r>
          </a:p>
          <a:p>
            <a:pPr algn="just">
              <a:buFontTx/>
              <a:buChar char="-"/>
            </a:pPr>
            <a:r>
              <a:rPr lang="en-US" sz="1600" dirty="0">
                <a:latin typeface="Times New Roman" panose="02020603050405020304" pitchFamily="18" charset="0"/>
                <a:cs typeface="Times New Roman" panose="02020603050405020304" pitchFamily="18" charset="0"/>
              </a:rPr>
              <a:t>Names of subjects</a:t>
            </a:r>
          </a:p>
          <a:p>
            <a:pPr algn="just">
              <a:buFontTx/>
              <a:buChar char="-"/>
            </a:pPr>
            <a:r>
              <a:rPr lang="en-US" sz="1600" dirty="0">
                <a:latin typeface="Times New Roman" panose="02020603050405020304" pitchFamily="18" charset="0"/>
                <a:cs typeface="Times New Roman" panose="02020603050405020304" pitchFamily="18" charset="0"/>
              </a:rPr>
              <a:t>Maximum number of classes per day</a:t>
            </a:r>
          </a:p>
          <a:p>
            <a:pPr algn="just">
              <a:buFontTx/>
              <a:buChar char="-"/>
            </a:pPr>
            <a:r>
              <a:rPr lang="en-US" sz="1600" dirty="0">
                <a:latin typeface="Times New Roman" panose="02020603050405020304" pitchFamily="18" charset="0"/>
                <a:cs typeface="Times New Roman" panose="02020603050405020304" pitchFamily="18" charset="0"/>
              </a:rPr>
              <a:t>Number of classes to be conducted for a subject per week / per day</a:t>
            </a:r>
          </a:p>
          <a:p>
            <a:pPr algn="just">
              <a:buFontTx/>
              <a:buChar char="-"/>
            </a:pPr>
            <a:r>
              <a:rPr lang="en-US" sz="1600" dirty="0">
                <a:latin typeface="Times New Roman" panose="02020603050405020304" pitchFamily="18" charset="0"/>
                <a:cs typeface="Times New Roman" panose="02020603050405020304" pitchFamily="18" charset="0"/>
              </a:rPr>
              <a:t>Number of faculties available for different subjects</a:t>
            </a:r>
          </a:p>
          <a:p>
            <a:pPr algn="just">
              <a:buFontTx/>
              <a:buChar char="-"/>
            </a:pPr>
            <a:r>
              <a:rPr lang="en-US" sz="1600" dirty="0">
                <a:latin typeface="Times New Roman" panose="02020603050405020304" pitchFamily="18" charset="0"/>
                <a:cs typeface="Times New Roman" panose="02020603050405020304" pitchFamily="18" charset="0"/>
              </a:rPr>
              <a:t>Average number of leaves a faculty member takes in a month</a:t>
            </a:r>
          </a:p>
          <a:p>
            <a:pPr algn="just">
              <a:buFontTx/>
              <a:buChar char="-"/>
            </a:pPr>
            <a:r>
              <a:rPr lang="en-US" sz="1600" dirty="0">
                <a:latin typeface="Times New Roman" panose="02020603050405020304" pitchFamily="18" charset="0"/>
                <a:cs typeface="Times New Roman" panose="02020603050405020304" pitchFamily="18" charset="0"/>
              </a:rPr>
              <a:t>Special classes that have fixed slots in timetable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5851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9530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lvl="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Proposed method and feasibility study</a:t>
            </a:r>
          </a:p>
          <a:p>
            <a:pPr marL="495300" lvl="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Literature review</a:t>
            </a:r>
          </a:p>
          <a:p>
            <a:pPr marL="495300" lvl="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Architecture Diagram</a:t>
            </a:r>
          </a:p>
          <a:p>
            <a:pPr marL="495300" indent="-342900" algn="just">
              <a:lnSpc>
                <a:spcPct val="200000"/>
              </a:lnSpc>
              <a:spcBef>
                <a:spcPts val="0"/>
              </a:spcBef>
              <a:buFont typeface="Arial" panose="020B0604020202020204" pitchFamily="34" charset="0"/>
              <a:buChar char="•"/>
            </a:pPr>
            <a:r>
              <a:rPr lang="en-US" sz="2100" dirty="0" err="1">
                <a:latin typeface="Times New Roman" panose="02020603050405020304" pitchFamily="18" charset="0"/>
                <a:ea typeface="Cambria" panose="02040503050406030204" pitchFamily="18" charset="0"/>
                <a:cs typeface="Times New Roman" panose="02020603050405020304" pitchFamily="18" charset="0"/>
              </a:rPr>
              <a:t>Git</a:t>
            </a:r>
            <a:r>
              <a:rPr lang="en-US" sz="2100" dirty="0">
                <a:latin typeface="Times New Roman" panose="02020603050405020304" pitchFamily="18" charset="0"/>
                <a:ea typeface="Cambria" panose="02040503050406030204" pitchFamily="18" charset="0"/>
                <a:cs typeface="Times New Roman" panose="020206030504050203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0DAA4-6292-3557-D22D-3BF8F766D9E2}"/>
              </a:ext>
            </a:extLst>
          </p:cNvPr>
          <p:cNvSpPr>
            <a:spLocks noGrp="1"/>
          </p:cNvSpPr>
          <p:nvPr>
            <p:ph type="title"/>
          </p:nvPr>
        </p:nvSpPr>
        <p:spPr>
          <a:xfrm>
            <a:off x="812800" y="530942"/>
            <a:ext cx="10668000" cy="501445"/>
          </a:xfrm>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Objectives</a:t>
            </a:r>
            <a:br>
              <a:rPr lang="en-US" dirty="0">
                <a:latin typeface="Times New Roman" panose="02020603050405020304" pitchFamily="18" charset="0"/>
                <a:ea typeface="Cambria" panose="02040503050406030204" pitchFamily="18" charset="0"/>
                <a:cs typeface="Times New Roman" panose="02020603050405020304" pitchFamily="18" charset="0"/>
              </a:rPr>
            </a:br>
            <a:endParaRPr lang="en-IN" dirty="0"/>
          </a:p>
        </p:txBody>
      </p:sp>
      <p:sp>
        <p:nvSpPr>
          <p:cNvPr id="3" name="Text Placeholder 2">
            <a:extLst>
              <a:ext uri="{FF2B5EF4-FFF2-40B4-BE49-F238E27FC236}">
                <a16:creationId xmlns:a16="http://schemas.microsoft.com/office/drawing/2014/main" id="{90E48A5E-2C69-A4BE-D5C7-B8727594EBAC}"/>
              </a:ext>
            </a:extLst>
          </p:cNvPr>
          <p:cNvSpPr>
            <a:spLocks noGrp="1"/>
          </p:cNvSpPr>
          <p:nvPr>
            <p:ph type="body" idx="1"/>
          </p:nvPr>
        </p:nvSpPr>
        <p:spPr/>
        <p:txBody>
          <a:bodyPr>
            <a:normAutofit/>
          </a:bodyPr>
          <a:lstStyle/>
          <a:p>
            <a:pPr marL="76200" indent="0" algn="just">
              <a:buNone/>
            </a:pPr>
            <a:r>
              <a:rPr lang="en-US" sz="1600" dirty="0">
                <a:latin typeface="Times New Roman" panose="02020603050405020304" pitchFamily="18" charset="0"/>
                <a:cs typeface="Times New Roman" panose="02020603050405020304" pitchFamily="18" charset="0"/>
              </a:rPr>
              <a:t>The primary goal of this project is to automate the academic scheduling process through a full-stack application that ensures conflict-free and optimized timetables. Key objectives include:</a:t>
            </a:r>
          </a:p>
          <a:p>
            <a:pPr algn="just"/>
            <a:r>
              <a:rPr lang="en-US" sz="1600" b="1" dirty="0">
                <a:latin typeface="Times New Roman" panose="02020603050405020304" pitchFamily="18" charset="0"/>
                <a:cs typeface="Times New Roman" panose="02020603050405020304" pitchFamily="18" charset="0"/>
              </a:rPr>
              <a:t>Conflict Prevention</a:t>
            </a:r>
            <a:r>
              <a:rPr lang="en-US" sz="1600" dirty="0">
                <a:latin typeface="Times New Roman" panose="02020603050405020304" pitchFamily="18" charset="0"/>
                <a:cs typeface="Times New Roman" panose="02020603050405020304" pitchFamily="18" charset="0"/>
              </a:rPr>
              <a:t>: Enforcing "Hard Constraints" such as preventing faculty and room overlaps, ensuring room capacity meets batch size, and respecting faculty daily limits.</a:t>
            </a:r>
          </a:p>
          <a:p>
            <a:pPr algn="just"/>
            <a:r>
              <a:rPr lang="en-US" sz="1600" b="1" dirty="0">
                <a:latin typeface="Times New Roman" panose="02020603050405020304" pitchFamily="18" charset="0"/>
                <a:cs typeface="Times New Roman" panose="02020603050405020304" pitchFamily="18" charset="0"/>
              </a:rPr>
              <a:t>Optimization</a:t>
            </a:r>
            <a:r>
              <a:rPr lang="en-US" sz="1600" dirty="0">
                <a:latin typeface="Times New Roman" panose="02020603050405020304" pitchFamily="18" charset="0"/>
                <a:cs typeface="Times New Roman" panose="02020603050405020304" pitchFamily="18" charset="0"/>
              </a:rPr>
              <a:t>: Implementing "Soft Constraints" to balance faculty workloads, minimize student idle time (gaps between classes), and maximize classroom utilization.</a:t>
            </a:r>
          </a:p>
          <a:p>
            <a:pPr algn="just"/>
            <a:r>
              <a:rPr lang="en-US" sz="1600" b="1" dirty="0">
                <a:latin typeface="Times New Roman" panose="02020603050405020304" pitchFamily="18" charset="0"/>
                <a:cs typeface="Times New Roman" panose="02020603050405020304" pitchFamily="18" charset="0"/>
              </a:rPr>
              <a:t>User Empowerment</a:t>
            </a:r>
            <a:r>
              <a:rPr lang="en-US" sz="1600" dirty="0">
                <a:latin typeface="Times New Roman" panose="02020603050405020304" pitchFamily="18" charset="0"/>
                <a:cs typeface="Times New Roman" panose="02020603050405020304" pitchFamily="18" charset="0"/>
              </a:rPr>
              <a:t>: Providing a multi-role system (Admin, Scheduler, Viewer) to manage data, generate alternatives, and approve finalized schedules.</a:t>
            </a:r>
          </a:p>
          <a:p>
            <a:pPr algn="just"/>
            <a:r>
              <a:rPr lang="en-US" sz="1600" b="1" dirty="0">
                <a:latin typeface="Times New Roman" panose="02020603050405020304" pitchFamily="18" charset="0"/>
                <a:cs typeface="Times New Roman" panose="02020603050405020304" pitchFamily="18" charset="0"/>
              </a:rPr>
              <a:t>Accessibility</a:t>
            </a:r>
            <a:r>
              <a:rPr lang="en-US" sz="1600" dirty="0">
                <a:latin typeface="Times New Roman" panose="02020603050405020304" pitchFamily="18" charset="0"/>
                <a:cs typeface="Times New Roman" panose="02020603050405020304" pitchFamily="18" charset="0"/>
              </a:rPr>
              <a:t>: Offering export capabilities in PDF and Excel formats for easy distribution.</a:t>
            </a:r>
          </a:p>
          <a:p>
            <a:endParaRPr lang="en-IN" dirty="0"/>
          </a:p>
        </p:txBody>
      </p:sp>
    </p:spTree>
    <p:extLst>
      <p:ext uri="{BB962C8B-B14F-4D97-AF65-F5344CB8AC3E}">
        <p14:creationId xmlns:p14="http://schemas.microsoft.com/office/powerpoint/2010/main" val="4211907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lgn="just">
              <a:buNone/>
            </a:pPr>
            <a:r>
              <a:rPr lang="en-IN" sz="1600" b="1" dirty="0">
                <a:latin typeface="Times New Roman" panose="02020603050405020304" pitchFamily="18" charset="0"/>
                <a:ea typeface="Cambria" panose="02040503050406030204" pitchFamily="18" charset="0"/>
                <a:cs typeface="Times New Roman" panose="02020603050405020304" pitchFamily="18" charset="0"/>
              </a:rPr>
              <a:t>1. Full Technology Stack</a:t>
            </a:r>
          </a:p>
          <a:p>
            <a:pPr marL="76200" indent="0" algn="just">
              <a:buNone/>
            </a:pPr>
            <a:r>
              <a:rPr lang="en-IN" sz="1600" b="1" dirty="0">
                <a:latin typeface="Times New Roman" panose="02020603050405020304" pitchFamily="18" charset="0"/>
                <a:ea typeface="Cambria" panose="02040503050406030204" pitchFamily="18" charset="0"/>
                <a:cs typeface="Times New Roman" panose="02020603050405020304" pitchFamily="18" charset="0"/>
              </a:rPr>
              <a:t>Frontend (Client-Side)</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Core Framework</a:t>
            </a:r>
            <a:r>
              <a:rPr lang="en-IN" sz="1600" dirty="0">
                <a:latin typeface="Times New Roman" panose="02020603050405020304" pitchFamily="18" charset="0"/>
                <a:ea typeface="Cambria" panose="02040503050406030204" pitchFamily="18" charset="0"/>
                <a:cs typeface="Times New Roman" panose="02020603050405020304" pitchFamily="18" charset="0"/>
              </a:rPr>
              <a:t>: React v18.2 (Component-based UI architecture)</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Language</a:t>
            </a:r>
            <a:r>
              <a:rPr lang="en-IN" sz="1600" dirty="0">
                <a:latin typeface="Times New Roman" panose="02020603050405020304" pitchFamily="18" charset="0"/>
                <a:ea typeface="Cambria" panose="02040503050406030204" pitchFamily="18" charset="0"/>
                <a:cs typeface="Times New Roman" panose="02020603050405020304" pitchFamily="18" charset="0"/>
              </a:rPr>
              <a:t>: TypeScript v5.3 (Static typing for reliability)</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Build Tool</a:t>
            </a:r>
            <a:r>
              <a:rPr lang="en-IN" sz="1600" dirty="0">
                <a:latin typeface="Times New Roman" panose="02020603050405020304" pitchFamily="18" charset="0"/>
                <a:ea typeface="Cambria" panose="02040503050406030204" pitchFamily="18" charset="0"/>
                <a:cs typeface="Times New Roman" panose="02020603050405020304" pitchFamily="18" charset="0"/>
              </a:rPr>
              <a:t>: Vite v5.0 (Next-generation frontend tooling, faster than Webpack)</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Styling</a:t>
            </a:r>
            <a:r>
              <a:rPr lang="en-IN" sz="1600" dirty="0">
                <a:latin typeface="Times New Roman" panose="02020603050405020304" pitchFamily="18" charset="0"/>
                <a:ea typeface="Cambria" panose="02040503050406030204" pitchFamily="18" charset="0"/>
                <a:cs typeface="Times New Roman" panose="02020603050405020304" pitchFamily="18" charset="0"/>
              </a:rPr>
              <a:t>: Tailwind CSS v3.4 (Utility-first CSS framework for responsive design)</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Routing</a:t>
            </a:r>
            <a:r>
              <a:rPr lang="en-IN" sz="1600" dirty="0">
                <a:latin typeface="Times New Roman" panose="02020603050405020304" pitchFamily="18" charset="0"/>
                <a:ea typeface="Cambria" panose="02040503050406030204" pitchFamily="18" charset="0"/>
                <a:cs typeface="Times New Roman" panose="02020603050405020304" pitchFamily="18" charset="0"/>
              </a:rPr>
              <a:t>: React Router DOM v6.21 (Client-side routing)</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HTTP Client</a:t>
            </a:r>
            <a:r>
              <a:rPr lang="en-IN" sz="1600" dirty="0">
                <a:latin typeface="Times New Roman" panose="02020603050405020304" pitchFamily="18" charset="0"/>
                <a:ea typeface="Cambria" panose="02040503050406030204" pitchFamily="18" charset="0"/>
                <a:cs typeface="Times New Roman" panose="02020603050405020304" pitchFamily="18" charset="0"/>
              </a:rPr>
              <a:t>: Axios v1.6 (Promise-based HTTP client for API requests)</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Linting</a:t>
            </a:r>
            <a:r>
              <a:rPr lang="en-IN" sz="1600" dirty="0">
                <a:latin typeface="Times New Roman" panose="02020603050405020304" pitchFamily="18" charset="0"/>
                <a:ea typeface="Cambria" panose="02040503050406030204" pitchFamily="18" charset="0"/>
                <a:cs typeface="Times New Roman" panose="02020603050405020304" pitchFamily="18" charset="0"/>
              </a:rPr>
              <a:t>: </a:t>
            </a:r>
            <a:r>
              <a:rPr lang="en-IN" sz="1600" dirty="0" err="1">
                <a:latin typeface="Times New Roman" panose="02020603050405020304" pitchFamily="18" charset="0"/>
                <a:ea typeface="Cambria" panose="02040503050406030204" pitchFamily="18" charset="0"/>
                <a:cs typeface="Times New Roman" panose="02020603050405020304" pitchFamily="18" charset="0"/>
              </a:rPr>
              <a:t>ESLint</a:t>
            </a:r>
            <a:r>
              <a:rPr lang="en-IN" sz="1600" dirty="0">
                <a:latin typeface="Times New Roman" panose="02020603050405020304" pitchFamily="18" charset="0"/>
                <a:ea typeface="Cambria" panose="02040503050406030204" pitchFamily="18" charset="0"/>
                <a:cs typeface="Times New Roman" panose="02020603050405020304" pitchFamily="18" charset="0"/>
              </a:rPr>
              <a:t> + TypeScript-</a:t>
            </a:r>
            <a:r>
              <a:rPr lang="en-IN" sz="1600" dirty="0" err="1">
                <a:latin typeface="Times New Roman" panose="02020603050405020304" pitchFamily="18" charset="0"/>
                <a:ea typeface="Cambria" panose="02040503050406030204" pitchFamily="18" charset="0"/>
                <a:cs typeface="Times New Roman" panose="02020603050405020304" pitchFamily="18" charset="0"/>
              </a:rPr>
              <a:t>ESLint</a:t>
            </a:r>
            <a:r>
              <a:rPr lang="en-IN" sz="1600" dirty="0">
                <a:latin typeface="Times New Roman" panose="02020603050405020304" pitchFamily="18" charset="0"/>
                <a:ea typeface="Cambria" panose="02040503050406030204" pitchFamily="18" charset="0"/>
                <a:cs typeface="Times New Roman" panose="02020603050405020304" pitchFamily="18" charset="0"/>
              </a:rPr>
              <a:t> (Code quality and consistency)</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D3D9F-EC56-72F4-B85A-6EB1A3F70656}"/>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 (contd...)</a:t>
            </a:r>
            <a:endParaRPr lang="en-IN" dirty="0"/>
          </a:p>
        </p:txBody>
      </p:sp>
      <p:sp>
        <p:nvSpPr>
          <p:cNvPr id="3" name="Text Placeholder 2">
            <a:extLst>
              <a:ext uri="{FF2B5EF4-FFF2-40B4-BE49-F238E27FC236}">
                <a16:creationId xmlns:a16="http://schemas.microsoft.com/office/drawing/2014/main" id="{25E14101-4D63-0323-6108-FA825FFC96B6}"/>
              </a:ext>
            </a:extLst>
          </p:cNvPr>
          <p:cNvSpPr>
            <a:spLocks noGrp="1"/>
          </p:cNvSpPr>
          <p:nvPr>
            <p:ph type="body" idx="1"/>
          </p:nvPr>
        </p:nvSpPr>
        <p:spPr/>
        <p:txBody>
          <a:bodyPr>
            <a:normAutofit/>
          </a:bodyPr>
          <a:lstStyle/>
          <a:p>
            <a:pPr marL="76200" indent="0" algn="just">
              <a:buNone/>
            </a:pPr>
            <a:r>
              <a:rPr lang="en-IN" sz="1600" b="1" dirty="0">
                <a:latin typeface="Times New Roman" panose="02020603050405020304" pitchFamily="18" charset="0"/>
                <a:ea typeface="Cambria" panose="02040503050406030204" pitchFamily="18" charset="0"/>
                <a:cs typeface="Times New Roman" panose="02020603050405020304" pitchFamily="18" charset="0"/>
              </a:rPr>
              <a:t>Backend (Server-Side)</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Runtime Environment</a:t>
            </a:r>
            <a:r>
              <a:rPr lang="en-IN" sz="1600" dirty="0">
                <a:latin typeface="Times New Roman" panose="02020603050405020304" pitchFamily="18" charset="0"/>
                <a:ea typeface="Cambria" panose="02040503050406030204" pitchFamily="18" charset="0"/>
                <a:cs typeface="Times New Roman" panose="02020603050405020304" pitchFamily="18" charset="0"/>
              </a:rPr>
              <a:t>: Node.js (JavaScript runtime)</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Web Framework</a:t>
            </a:r>
            <a:r>
              <a:rPr lang="en-IN" sz="1600" dirty="0">
                <a:latin typeface="Times New Roman" panose="02020603050405020304" pitchFamily="18" charset="0"/>
                <a:ea typeface="Cambria" panose="02040503050406030204" pitchFamily="18" charset="0"/>
                <a:cs typeface="Times New Roman" panose="02020603050405020304" pitchFamily="18" charset="0"/>
              </a:rPr>
              <a:t>: Express.js v4.18 (RESTful API development)</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Language</a:t>
            </a:r>
            <a:r>
              <a:rPr lang="en-IN" sz="1600" dirty="0">
                <a:latin typeface="Times New Roman" panose="02020603050405020304" pitchFamily="18" charset="0"/>
                <a:ea typeface="Cambria" panose="02040503050406030204" pitchFamily="18" charset="0"/>
                <a:cs typeface="Times New Roman" panose="02020603050405020304" pitchFamily="18" charset="0"/>
              </a:rPr>
              <a:t>: TypeScript v5.3</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ORM (Object-Relational Mapping)</a:t>
            </a:r>
            <a:r>
              <a:rPr lang="en-IN" sz="1600" dirty="0">
                <a:latin typeface="Times New Roman" panose="02020603050405020304" pitchFamily="18" charset="0"/>
                <a:ea typeface="Cambria" panose="02040503050406030204" pitchFamily="18" charset="0"/>
                <a:cs typeface="Times New Roman" panose="02020603050405020304" pitchFamily="18" charset="0"/>
              </a:rPr>
              <a:t>: Prisma v5.8 (Type-safe database queries)</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Validation</a:t>
            </a:r>
            <a:r>
              <a:rPr lang="en-IN" sz="1600" dirty="0">
                <a:latin typeface="Times New Roman" panose="02020603050405020304" pitchFamily="18" charset="0"/>
                <a:ea typeface="Cambria" panose="02040503050406030204" pitchFamily="18" charset="0"/>
                <a:cs typeface="Times New Roman" panose="02020603050405020304" pitchFamily="18" charset="0"/>
              </a:rPr>
              <a:t>: Express-validator v7.0 (Incoming request validation)</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File Export Engines</a:t>
            </a:r>
            <a:r>
              <a:rPr lang="en-IN" sz="1600" dirty="0">
                <a:latin typeface="Times New Roman" panose="02020603050405020304" pitchFamily="18" charset="0"/>
                <a:ea typeface="Cambria" panose="02040503050406030204" pitchFamily="18" charset="0"/>
                <a:cs typeface="Times New Roman" panose="02020603050405020304" pitchFamily="18" charset="0"/>
              </a:rPr>
              <a:t>:</a:t>
            </a:r>
          </a:p>
          <a:p>
            <a:pPr lvl="1" algn="just"/>
            <a:r>
              <a:rPr lang="en-IN" sz="1600" dirty="0" err="1">
                <a:latin typeface="Times New Roman" panose="02020603050405020304" pitchFamily="18" charset="0"/>
                <a:ea typeface="Cambria" panose="02040503050406030204" pitchFamily="18" charset="0"/>
                <a:cs typeface="Times New Roman" panose="02020603050405020304" pitchFamily="18" charset="0"/>
              </a:rPr>
              <a:t>pdfkit</a:t>
            </a:r>
            <a:r>
              <a:rPr lang="en-IN" sz="1600" dirty="0">
                <a:latin typeface="Times New Roman" panose="02020603050405020304" pitchFamily="18" charset="0"/>
                <a:ea typeface="Cambria" panose="02040503050406030204" pitchFamily="18" charset="0"/>
                <a:cs typeface="Times New Roman" panose="02020603050405020304" pitchFamily="18" charset="0"/>
              </a:rPr>
              <a:t> v0.14 (PDF generation)</a:t>
            </a:r>
          </a:p>
          <a:p>
            <a:pPr lvl="1" algn="just"/>
            <a:r>
              <a:rPr lang="en-IN" sz="1600" dirty="0" err="1">
                <a:latin typeface="Times New Roman" panose="02020603050405020304" pitchFamily="18" charset="0"/>
                <a:ea typeface="Cambria" panose="02040503050406030204" pitchFamily="18" charset="0"/>
                <a:cs typeface="Times New Roman" panose="02020603050405020304" pitchFamily="18" charset="0"/>
              </a:rPr>
              <a:t>exceljs</a:t>
            </a:r>
            <a:r>
              <a:rPr lang="en-IN" sz="1600" dirty="0">
                <a:latin typeface="Times New Roman" panose="02020603050405020304" pitchFamily="18" charset="0"/>
                <a:ea typeface="Cambria" panose="02040503050406030204" pitchFamily="18" charset="0"/>
                <a:cs typeface="Times New Roman" panose="02020603050405020304" pitchFamily="18" charset="0"/>
              </a:rPr>
              <a:t> v4.4 (Excel spreadsheet generation)</a:t>
            </a:r>
          </a:p>
          <a:p>
            <a:pPr marL="76200" indent="0" algn="just">
              <a:buNone/>
            </a:pPr>
            <a:r>
              <a:rPr lang="en-IN" sz="1600" b="1" dirty="0">
                <a:latin typeface="Times New Roman" panose="02020603050405020304" pitchFamily="18" charset="0"/>
                <a:ea typeface="Cambria" panose="02040503050406030204" pitchFamily="18" charset="0"/>
                <a:cs typeface="Times New Roman" panose="02020603050405020304" pitchFamily="18" charset="0"/>
              </a:rPr>
              <a:t>Database &amp; Security</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Database</a:t>
            </a:r>
            <a:r>
              <a:rPr lang="en-IN" sz="1600" dirty="0">
                <a:latin typeface="Times New Roman" panose="02020603050405020304" pitchFamily="18" charset="0"/>
                <a:ea typeface="Cambria" panose="02040503050406030204" pitchFamily="18" charset="0"/>
                <a:cs typeface="Times New Roman" panose="02020603050405020304" pitchFamily="18" charset="0"/>
              </a:rPr>
              <a:t>: PostgreSQL (Relational Database System)</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Authentication</a:t>
            </a:r>
            <a:r>
              <a:rPr lang="en-IN" sz="1600" dirty="0">
                <a:latin typeface="Times New Roman" panose="02020603050405020304" pitchFamily="18" charset="0"/>
                <a:ea typeface="Cambria" panose="02040503050406030204" pitchFamily="18" charset="0"/>
                <a:cs typeface="Times New Roman" panose="02020603050405020304" pitchFamily="18" charset="0"/>
              </a:rPr>
              <a:t>: JSON Web Tokens (JWT) v9.0 (Stateless authentication)</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Encryption</a:t>
            </a:r>
            <a:r>
              <a:rPr lang="en-IN" sz="1600" dirty="0">
                <a:latin typeface="Times New Roman" panose="02020603050405020304" pitchFamily="18" charset="0"/>
                <a:ea typeface="Cambria" panose="02040503050406030204" pitchFamily="18" charset="0"/>
                <a:cs typeface="Times New Roman" panose="02020603050405020304" pitchFamily="18" charset="0"/>
              </a:rPr>
              <a:t>: </a:t>
            </a:r>
            <a:r>
              <a:rPr lang="en-IN" sz="1600" dirty="0" err="1">
                <a:latin typeface="Times New Roman" panose="02020603050405020304" pitchFamily="18" charset="0"/>
                <a:ea typeface="Cambria" panose="02040503050406030204" pitchFamily="18" charset="0"/>
                <a:cs typeface="Times New Roman" panose="02020603050405020304" pitchFamily="18" charset="0"/>
              </a:rPr>
              <a:t>Bcrypt</a:t>
            </a:r>
            <a:r>
              <a:rPr lang="en-IN" sz="1600" dirty="0">
                <a:latin typeface="Times New Roman" panose="02020603050405020304" pitchFamily="18" charset="0"/>
                <a:ea typeface="Cambria" panose="02040503050406030204" pitchFamily="18" charset="0"/>
                <a:cs typeface="Times New Roman" panose="02020603050405020304" pitchFamily="18" charset="0"/>
              </a:rPr>
              <a:t> v5.1 (Password hashing)</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Environment Management</a:t>
            </a:r>
            <a:r>
              <a:rPr lang="en-IN" sz="1600" dirty="0">
                <a:latin typeface="Times New Roman" panose="02020603050405020304" pitchFamily="18" charset="0"/>
                <a:ea typeface="Cambria" panose="02040503050406030204" pitchFamily="18" charset="0"/>
                <a:cs typeface="Times New Roman" panose="02020603050405020304" pitchFamily="18" charset="0"/>
              </a:rPr>
              <a:t>: </a:t>
            </a:r>
            <a:r>
              <a:rPr lang="en-IN" sz="1600" dirty="0" err="1">
                <a:latin typeface="Times New Roman" panose="02020603050405020304" pitchFamily="18" charset="0"/>
                <a:ea typeface="Cambria" panose="02040503050406030204" pitchFamily="18" charset="0"/>
                <a:cs typeface="Times New Roman" panose="02020603050405020304" pitchFamily="18" charset="0"/>
              </a:rPr>
              <a:t>Dotenv</a:t>
            </a:r>
            <a:r>
              <a:rPr lang="en-IN" sz="1600" dirty="0">
                <a:latin typeface="Times New Roman" panose="02020603050405020304" pitchFamily="18" charset="0"/>
                <a:ea typeface="Cambria" panose="02040503050406030204" pitchFamily="18" charset="0"/>
                <a:cs typeface="Times New Roman" panose="02020603050405020304" pitchFamily="18" charset="0"/>
              </a:rPr>
              <a:t> v16.3 (Configuration management)</a:t>
            </a:r>
          </a:p>
          <a:p>
            <a:endParaRPr lang="en-IN" dirty="0"/>
          </a:p>
        </p:txBody>
      </p:sp>
    </p:spTree>
    <p:extLst>
      <p:ext uri="{BB962C8B-B14F-4D97-AF65-F5344CB8AC3E}">
        <p14:creationId xmlns:p14="http://schemas.microsoft.com/office/powerpoint/2010/main" val="3054036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(contd...)</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Software</a:t>
            </a:r>
            <a:r>
              <a:rPr lang="en-IN" sz="1600" dirty="0">
                <a:latin typeface="Times New Roman" panose="02020603050405020304" pitchFamily="18" charset="0"/>
                <a:ea typeface="Cambria" panose="02040503050406030204" pitchFamily="18" charset="0"/>
                <a:cs typeface="Times New Roman" panose="02020603050405020304" pitchFamily="18" charset="0"/>
              </a:rPr>
              <a:t>:</a:t>
            </a:r>
          </a:p>
          <a:p>
            <a:pPr lvl="1"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OS</a:t>
            </a:r>
            <a:r>
              <a:rPr lang="en-IN" sz="1600" dirty="0">
                <a:latin typeface="Times New Roman" panose="02020603050405020304" pitchFamily="18" charset="0"/>
                <a:ea typeface="Cambria" panose="02040503050406030204" pitchFamily="18" charset="0"/>
                <a:cs typeface="Times New Roman" panose="02020603050405020304" pitchFamily="18" charset="0"/>
              </a:rPr>
              <a:t>: Cross-platform (Windows/Linux/macOS) due to Node.js environment.</a:t>
            </a:r>
          </a:p>
          <a:p>
            <a:pPr lvl="1"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Database</a:t>
            </a:r>
            <a:r>
              <a:rPr lang="en-IN" sz="1600" dirty="0">
                <a:latin typeface="Times New Roman" panose="02020603050405020304" pitchFamily="18" charset="0"/>
                <a:ea typeface="Cambria" panose="02040503050406030204" pitchFamily="18" charset="0"/>
                <a:cs typeface="Times New Roman" panose="02020603050405020304" pitchFamily="18" charset="0"/>
              </a:rPr>
              <a:t>: PostgreSQL instance.</a:t>
            </a:r>
          </a:p>
          <a:p>
            <a:pPr lvl="1"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Client</a:t>
            </a:r>
            <a:r>
              <a:rPr lang="en-IN" sz="1600" dirty="0">
                <a:latin typeface="Times New Roman" panose="02020603050405020304" pitchFamily="18" charset="0"/>
                <a:ea typeface="Cambria" panose="02040503050406030204" pitchFamily="18" charset="0"/>
                <a:cs typeface="Times New Roman" panose="02020603050405020304" pitchFamily="18" charset="0"/>
              </a:rPr>
              <a:t>: Modern Web Browser (Chrome/Edge) with JavaScript enabled.</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Hardware (Server)</a:t>
            </a:r>
            <a:r>
              <a:rPr lang="en-IN" sz="1600" dirty="0">
                <a:latin typeface="Times New Roman" panose="02020603050405020304" pitchFamily="18" charset="0"/>
                <a:ea typeface="Cambria" panose="02040503050406030204" pitchFamily="18" charset="0"/>
                <a:cs typeface="Times New Roman" panose="02020603050405020304" pitchFamily="18" charset="0"/>
              </a:rPr>
              <a:t>:</a:t>
            </a:r>
          </a:p>
          <a:p>
            <a:pPr lvl="1"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RAM</a:t>
            </a:r>
            <a:r>
              <a:rPr lang="en-IN" sz="1600" dirty="0">
                <a:latin typeface="Times New Roman" panose="02020603050405020304" pitchFamily="18" charset="0"/>
                <a:ea typeface="Cambria" panose="02040503050406030204" pitchFamily="18" charset="0"/>
                <a:cs typeface="Times New Roman" panose="02020603050405020304" pitchFamily="18" charset="0"/>
              </a:rPr>
              <a:t>: Minimum 4GB (to handle in-memory timetable generation arrays).</a:t>
            </a:r>
          </a:p>
          <a:p>
            <a:pPr lvl="1"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CPU</a:t>
            </a:r>
            <a:r>
              <a:rPr lang="en-IN" sz="1600" dirty="0">
                <a:latin typeface="Times New Roman" panose="02020603050405020304" pitchFamily="18" charset="0"/>
                <a:ea typeface="Cambria" panose="02040503050406030204" pitchFamily="18" charset="0"/>
                <a:cs typeface="Times New Roman" panose="02020603050405020304" pitchFamily="18" charset="0"/>
              </a:rPr>
              <a:t>: Multi-core processor recommended for concurrent generation requests.</a:t>
            </a: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(contd...)</a:t>
            </a:r>
          </a:p>
        </p:txBody>
      </p:sp>
      <p:sp>
        <p:nvSpPr>
          <p:cNvPr id="5" name="Text Placeholder 4">
            <a:extLst>
              <a:ext uri="{FF2B5EF4-FFF2-40B4-BE49-F238E27FC236}">
                <a16:creationId xmlns:a16="http://schemas.microsoft.com/office/drawing/2014/main" id="{6CA9A2A7-22E5-EE54-633E-C948CFA94EC9}"/>
              </a:ext>
            </a:extLst>
          </p:cNvPr>
          <p:cNvSpPr>
            <a:spLocks noGrp="1" noChangeArrowheads="1"/>
          </p:cNvSpPr>
          <p:nvPr>
            <p:ph type="body" idx="1"/>
          </p:nvPr>
        </p:nvSpPr>
        <p:spPr bwMode="auto">
          <a:xfrm>
            <a:off x="706582" y="1115339"/>
            <a:ext cx="10312858" cy="303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Algorithm Approach</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Randomized Heuristic Search (Greedy approach with multiple attempts).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Workflow</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Initialization</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The system defines working days (Mon-Fri) and standard time slots (09:00 - 17:15).</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Constraint Checking</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1"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Capacity Check</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classroom.capacity</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&lt;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requiredCapacity</a:t>
            </a:r>
            <a:endPar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1"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Faculty Availability</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Verifies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maxClassesPerDay</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limits.</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Conflict Detection</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Uses a Hash Map (Map&lt;string, Set&lt;string&gt;&gt;)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to track occupied slots for Batches, Faculties, and Rooms in $O(1)$ time.</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Scoring Function: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Score= 100 - (Violations * 10) - (Variance*2) + (Utilization*10)</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Note: </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The formula above is derived from the logic in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calculateScore</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method.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081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2AB3C-DB52-BF94-0527-4D4DA91A5E6A}"/>
              </a:ext>
            </a:extLst>
          </p:cNvPr>
          <p:cNvSpPr>
            <a:spLocks noGrp="1"/>
          </p:cNvSpPr>
          <p:nvPr>
            <p:ph type="title"/>
          </p:nvPr>
        </p:nvSpPr>
        <p:spPr>
          <a:xfrm>
            <a:off x="812800" y="370390"/>
            <a:ext cx="10668000" cy="937548"/>
          </a:xfrm>
        </p:spPr>
        <p:txBody>
          <a:bodyPr/>
          <a:lstStyle/>
          <a:p>
            <a:r>
              <a:rPr lang="en-US" dirty="0">
                <a:latin typeface="Cambria" panose="02040503050406030204" pitchFamily="18" charset="0"/>
                <a:ea typeface="Cambria" panose="02040503050406030204" pitchFamily="18" charset="0"/>
                <a:cs typeface="Times New Roman" panose="02020603050405020304" pitchFamily="18" charset="0"/>
              </a:rPr>
              <a:t>Proposed method and feasibility study</a:t>
            </a:r>
            <a:br>
              <a:rPr lang="en-US" dirty="0">
                <a:latin typeface="Times New Roman" panose="02020603050405020304" pitchFamily="18" charset="0"/>
                <a:ea typeface="Cambria" panose="02040503050406030204" pitchFamily="18" charset="0"/>
                <a:cs typeface="Times New Roman" panose="02020603050405020304" pitchFamily="18" charset="0"/>
              </a:rPr>
            </a:br>
            <a:endParaRPr lang="en-IN" dirty="0"/>
          </a:p>
        </p:txBody>
      </p:sp>
      <p:sp>
        <p:nvSpPr>
          <p:cNvPr id="3" name="Text Placeholder 2">
            <a:extLst>
              <a:ext uri="{FF2B5EF4-FFF2-40B4-BE49-F238E27FC236}">
                <a16:creationId xmlns:a16="http://schemas.microsoft.com/office/drawing/2014/main" id="{EAFB011A-1204-7010-F2AD-0CC4B48D1CFB}"/>
              </a:ext>
            </a:extLst>
          </p:cNvPr>
          <p:cNvSpPr>
            <a:spLocks noGrp="1"/>
          </p:cNvSpPr>
          <p:nvPr>
            <p:ph type="body" idx="1"/>
          </p:nvPr>
        </p:nvSpPr>
        <p:spPr/>
        <p:txBody>
          <a:bodyPr>
            <a:normAutofit/>
          </a:bodyPr>
          <a:lstStyle/>
          <a:p>
            <a:pPr marL="76200" indent="0" algn="just">
              <a:buNone/>
            </a:pPr>
            <a:r>
              <a:rPr lang="en-US" sz="1600" b="1" dirty="0">
                <a:latin typeface="Times New Roman" panose="02020603050405020304" pitchFamily="18" charset="0"/>
                <a:cs typeface="Times New Roman" panose="02020603050405020304" pitchFamily="18" charset="0"/>
              </a:rPr>
              <a:t>Proposed Method: Constraint-Based Heuristic Algorithm</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utilizes an iterative, greedy approach with randomization:</a:t>
            </a: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Initialization</a:t>
            </a:r>
            <a:r>
              <a:rPr lang="en-US" sz="1600" dirty="0">
                <a:latin typeface="Times New Roman" panose="02020603050405020304" pitchFamily="18" charset="0"/>
                <a:cs typeface="Times New Roman" panose="02020603050405020304" pitchFamily="18" charset="0"/>
              </a:rPr>
              <a:t>: Creates a 5-day × 7-slot grid.</a:t>
            </a: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Fixed-Slot Priority</a:t>
            </a:r>
            <a:r>
              <a:rPr lang="en-US" sz="1600" dirty="0">
                <a:latin typeface="Times New Roman" panose="02020603050405020304" pitchFamily="18" charset="0"/>
                <a:cs typeface="Times New Roman" panose="02020603050405020304" pitchFamily="18" charset="0"/>
              </a:rPr>
              <a:t>: Schedules pre-assigned classes first to ensure mandatory slots are honored.</a:t>
            </a: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Iterative Placement</a:t>
            </a:r>
            <a:r>
              <a:rPr lang="en-US" sz="1600" dirty="0">
                <a:latin typeface="Times New Roman" panose="02020603050405020304" pitchFamily="18" charset="0"/>
                <a:cs typeface="Times New Roman" panose="02020603050405020304" pitchFamily="18" charset="0"/>
              </a:rPr>
              <a:t>: Uses a "Shuffled Batch" order to attempt class placements, validating against hard constraints (faculty/room availability) at every step.</a:t>
            </a: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Overlapping Logic</a:t>
            </a:r>
            <a:r>
              <a:rPr lang="en-US" sz="1600" dirty="0">
                <a:latin typeface="Times New Roman" panose="02020603050405020304" pitchFamily="18" charset="0"/>
                <a:cs typeface="Times New Roman" panose="02020603050405020304" pitchFamily="18" charset="0"/>
              </a:rPr>
              <a:t>: For practical sessions, the system blocks the primary slot and all overlapping 1-hour slots to ensure total room/faculty exclusivity.</a:t>
            </a:r>
          </a:p>
          <a:p>
            <a:pPr marL="76200" indent="0" algn="just">
              <a:buNone/>
            </a:pPr>
            <a:r>
              <a:rPr lang="en-US" sz="1600" b="1" dirty="0">
                <a:latin typeface="Times New Roman" panose="02020603050405020304" pitchFamily="18" charset="0"/>
                <a:cs typeface="Times New Roman" panose="02020603050405020304" pitchFamily="18" charset="0"/>
              </a:rPr>
              <a:t>Feasibility Study</a:t>
            </a:r>
          </a:p>
          <a:p>
            <a:pPr algn="just"/>
            <a:r>
              <a:rPr lang="en-US" sz="1600" b="1" dirty="0">
                <a:latin typeface="Times New Roman" panose="02020603050405020304" pitchFamily="18" charset="0"/>
                <a:cs typeface="Times New Roman" panose="02020603050405020304" pitchFamily="18" charset="0"/>
              </a:rPr>
              <a:t>Technical Feasibility</a:t>
            </a:r>
            <a:r>
              <a:rPr lang="en-US" sz="1600" dirty="0">
                <a:latin typeface="Times New Roman" panose="02020603050405020304" pitchFamily="18" charset="0"/>
                <a:cs typeface="Times New Roman" panose="02020603050405020304" pitchFamily="18" charset="0"/>
              </a:rPr>
              <a:t>: The project uses a modern PERN stack (PostgreSQL, Express, React, Node) and TypeScript, which provides the type safety and performance required for complex calculations.</a:t>
            </a:r>
          </a:p>
          <a:p>
            <a:pPr algn="just"/>
            <a:r>
              <a:rPr lang="en-US" sz="1600" b="1" dirty="0">
                <a:latin typeface="Times New Roman" panose="02020603050405020304" pitchFamily="18" charset="0"/>
                <a:cs typeface="Times New Roman" panose="02020603050405020304" pitchFamily="18" charset="0"/>
              </a:rPr>
              <a:t>Operational Feasibility</a:t>
            </a:r>
            <a:r>
              <a:rPr lang="en-US" sz="1600" dirty="0">
                <a:latin typeface="Times New Roman" panose="02020603050405020304" pitchFamily="18" charset="0"/>
                <a:cs typeface="Times New Roman" panose="02020603050405020304" pitchFamily="18" charset="0"/>
              </a:rPr>
              <a:t>: With a setup time of under 10 minutes and pre-configured seed data, the system is easily deployable for educational institutions.</a:t>
            </a:r>
          </a:p>
          <a:p>
            <a:pPr algn="just"/>
            <a:r>
              <a:rPr lang="en-US" sz="1600" b="1" dirty="0">
                <a:latin typeface="Times New Roman" panose="02020603050405020304" pitchFamily="18" charset="0"/>
                <a:cs typeface="Times New Roman" panose="02020603050405020304" pitchFamily="18" charset="0"/>
              </a:rPr>
              <a:t>Algorithm Efficiency</a:t>
            </a:r>
            <a:r>
              <a:rPr lang="en-US" sz="1600" dirty="0">
                <a:latin typeface="Times New Roman" panose="02020603050405020304" pitchFamily="18" charset="0"/>
                <a:cs typeface="Times New Roman" panose="02020603050405020304" pitchFamily="18" charset="0"/>
              </a:rPr>
              <a:t>: The time complexity is O(n × m × s), making it efficient enough to generate multiple options in real-time for small-to-medium-sized departments.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0343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9756E-4A36-3E88-0FBE-E087B20F0B42}"/>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Literature Review</a:t>
            </a:r>
          </a:p>
        </p:txBody>
      </p:sp>
      <p:graphicFrame>
        <p:nvGraphicFramePr>
          <p:cNvPr id="4" name="Table 3">
            <a:extLst>
              <a:ext uri="{FF2B5EF4-FFF2-40B4-BE49-F238E27FC236}">
                <a16:creationId xmlns:a16="http://schemas.microsoft.com/office/drawing/2014/main" id="{34D80739-C1C4-AA9E-00D6-4DD4E9E5A684}"/>
              </a:ext>
            </a:extLst>
          </p:cNvPr>
          <p:cNvGraphicFramePr>
            <a:graphicFrameLocks noGrp="1"/>
          </p:cNvGraphicFramePr>
          <p:nvPr>
            <p:extLst>
              <p:ext uri="{D42A27DB-BD31-4B8C-83A1-F6EECF244321}">
                <p14:modId xmlns:p14="http://schemas.microsoft.com/office/powerpoint/2010/main" val="487507198"/>
              </p:ext>
            </p:extLst>
          </p:nvPr>
        </p:nvGraphicFramePr>
        <p:xfrm>
          <a:off x="1052051" y="1046780"/>
          <a:ext cx="9960077" cy="5206534"/>
        </p:xfrm>
        <a:graphic>
          <a:graphicData uri="http://schemas.openxmlformats.org/drawingml/2006/table">
            <a:tbl>
              <a:tblPr firstRow="1" firstCol="1" bandRow="1"/>
              <a:tblGrid>
                <a:gridCol w="589575">
                  <a:extLst>
                    <a:ext uri="{9D8B030D-6E8A-4147-A177-3AD203B41FA5}">
                      <a16:colId xmlns:a16="http://schemas.microsoft.com/office/drawing/2014/main" val="1410567350"/>
                    </a:ext>
                  </a:extLst>
                </a:gridCol>
                <a:gridCol w="1919259">
                  <a:extLst>
                    <a:ext uri="{9D8B030D-6E8A-4147-A177-3AD203B41FA5}">
                      <a16:colId xmlns:a16="http://schemas.microsoft.com/office/drawing/2014/main" val="1952622986"/>
                    </a:ext>
                  </a:extLst>
                </a:gridCol>
                <a:gridCol w="1518712">
                  <a:extLst>
                    <a:ext uri="{9D8B030D-6E8A-4147-A177-3AD203B41FA5}">
                      <a16:colId xmlns:a16="http://schemas.microsoft.com/office/drawing/2014/main" val="1200959758"/>
                    </a:ext>
                  </a:extLst>
                </a:gridCol>
                <a:gridCol w="2558064">
                  <a:extLst>
                    <a:ext uri="{9D8B030D-6E8A-4147-A177-3AD203B41FA5}">
                      <a16:colId xmlns:a16="http://schemas.microsoft.com/office/drawing/2014/main" val="1744618237"/>
                    </a:ext>
                  </a:extLst>
                </a:gridCol>
                <a:gridCol w="1941225">
                  <a:extLst>
                    <a:ext uri="{9D8B030D-6E8A-4147-A177-3AD203B41FA5}">
                      <a16:colId xmlns:a16="http://schemas.microsoft.com/office/drawing/2014/main" val="54627882"/>
                    </a:ext>
                  </a:extLst>
                </a:gridCol>
                <a:gridCol w="1433242">
                  <a:extLst>
                    <a:ext uri="{9D8B030D-6E8A-4147-A177-3AD203B41FA5}">
                      <a16:colId xmlns:a16="http://schemas.microsoft.com/office/drawing/2014/main" val="3173865634"/>
                    </a:ext>
                  </a:extLst>
                </a:gridCol>
              </a:tblGrid>
              <a:tr h="153623">
                <a:tc>
                  <a:txBody>
                    <a:bodyPr/>
                    <a:lstStyle/>
                    <a:p>
                      <a:pPr algn="just">
                        <a:lnSpc>
                          <a:spcPct val="115000"/>
                        </a:lnSpc>
                        <a:spcAft>
                          <a:spcPts val="800"/>
                        </a:spcAft>
                        <a:buNone/>
                      </a:pPr>
                      <a:r>
                        <a:rPr lang="en-IN" sz="400" b="1" kern="100">
                          <a:effectLst/>
                          <a:latin typeface="Times New Roman" panose="02020603050405020304" pitchFamily="18" charset="0"/>
                          <a:ea typeface="Calibri" panose="020F0502020204030204" pitchFamily="34" charset="0"/>
                          <a:cs typeface="Times New Roman" panose="02020603050405020304" pitchFamily="18" charset="0"/>
                        </a:rPr>
                        <a:t>No</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b="1" kern="100">
                          <a:effectLst/>
                          <a:latin typeface="Times New Roman" panose="02020603050405020304" pitchFamily="18" charset="0"/>
                          <a:ea typeface="Calibri" panose="020F0502020204030204" pitchFamily="34" charset="0"/>
                          <a:cs typeface="Times New Roman" panose="02020603050405020304" pitchFamily="18" charset="0"/>
                        </a:rPr>
                        <a:t>Paper Title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b="1" kern="100">
                          <a:effectLst/>
                          <a:latin typeface="Times New Roman" panose="02020603050405020304" pitchFamily="18" charset="0"/>
                          <a:ea typeface="Calibri" panose="020F0502020204030204" pitchFamily="34" charset="0"/>
                          <a:cs typeface="Times New Roman" panose="02020603050405020304" pitchFamily="18" charset="0"/>
                        </a:rPr>
                        <a:t>Authors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b="1" kern="100" dirty="0">
                          <a:effectLst/>
                          <a:latin typeface="Times New Roman" panose="02020603050405020304" pitchFamily="18" charset="0"/>
                          <a:ea typeface="Calibri" panose="020F0502020204030204" pitchFamily="34" charset="0"/>
                          <a:cs typeface="Times New Roman" panose="02020603050405020304" pitchFamily="18" charset="0"/>
                        </a:rPr>
                        <a:t>What the Paper Has Done</a:t>
                      </a:r>
                      <a:endParaRPr lang="en-IN" sz="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b="1" kern="100">
                          <a:effectLst/>
                          <a:latin typeface="Times New Roman" panose="02020603050405020304" pitchFamily="18" charset="0"/>
                          <a:ea typeface="Calibri" panose="020F0502020204030204" pitchFamily="34" charset="0"/>
                          <a:cs typeface="Times New Roman" panose="02020603050405020304" pitchFamily="18" charset="0"/>
                        </a:rPr>
                        <a:t>What Is Missing / Research Gap</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b="1" kern="100">
                          <a:effectLst/>
                          <a:latin typeface="Times New Roman" panose="02020603050405020304" pitchFamily="18" charset="0"/>
                          <a:ea typeface="Calibri" panose="020F0502020204030204" pitchFamily="34" charset="0"/>
                          <a:cs typeface="Times New Roman" panose="02020603050405020304" pitchFamily="18" charset="0"/>
                        </a:rPr>
                        <a:t>Technology / Method Used</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1702811"/>
                  </a:ext>
                </a:extLst>
              </a:tr>
              <a:tr h="305165">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 Memetic Algorithm for University Exam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E. K. Burke, J. P. Newall, R. F. Weare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Proposed memetic algorithm combining GA and local search for exam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Not extended to course/class timetables, no web system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Memetic Algorithm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7587543"/>
                  </a:ext>
                </a:extLst>
              </a:tr>
              <a:tr h="229394">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2</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Recent Research Directions in Automated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E. K. Burke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Surveyed automated timetabling techniques and challenges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 implementation or system architecture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Survey</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5943962"/>
                  </a:ext>
                </a:extLst>
              </a:tr>
              <a:tr h="229394">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3</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 Comprehensive Course Timetabling and Student Scheduling System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M. W. Carter</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Developed real-world university scheduling system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Lacks modern UI and dynamic updates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Optimization models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717459"/>
                  </a:ext>
                </a:extLst>
              </a:tr>
              <a:tr h="305165">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4</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 Survey of University Course Timetabling Problem: Perspectives, Trends and Opportunities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 L. Goh, N. R. Sabar, G. Kendall et al.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Comprehensive survey of UCTP methods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 practical deployment</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Literature survey</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7973417"/>
                  </a:ext>
                </a:extLst>
              </a:tr>
              <a:tr h="229394">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5</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Automated Timetable Generation with Conflict Resolution Algorithms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 A. K. Al-Hajri</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Web-based automated timetable with conflict handling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 faculty workload balancing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Rule-based algorithm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4349386"/>
                  </a:ext>
                </a:extLst>
              </a:tr>
              <a:tr h="229394">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6</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Automated Timetabling System for University Course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M. A. Al-Betar et al.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Automated university course scheduling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Static constraints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Genetic Algorithm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0225165"/>
                  </a:ext>
                </a:extLst>
              </a:tr>
              <a:tr h="229394">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7</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International Timetabling Competition 2019: Overview</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dirty="0">
                          <a:effectLst/>
                          <a:latin typeface="Times New Roman" panose="02020603050405020304" pitchFamily="18" charset="0"/>
                          <a:ea typeface="Calibri" panose="020F0502020204030204" pitchFamily="34" charset="0"/>
                          <a:cs typeface="Times New Roman" panose="02020603050405020304" pitchFamily="18" charset="0"/>
                        </a:rPr>
                        <a:t>H. </a:t>
                      </a:r>
                      <a:r>
                        <a:rPr lang="en-IN" sz="400" kern="100" dirty="0" err="1">
                          <a:effectLst/>
                          <a:latin typeface="Times New Roman" panose="02020603050405020304" pitchFamily="18" charset="0"/>
                          <a:ea typeface="Calibri" panose="020F0502020204030204" pitchFamily="34" charset="0"/>
                          <a:cs typeface="Times New Roman" panose="02020603050405020304" pitchFamily="18" charset="0"/>
                        </a:rPr>
                        <a:t>Rudová</a:t>
                      </a:r>
                      <a:r>
                        <a:rPr lang="en-IN" sz="400" kern="100" dirty="0">
                          <a:effectLst/>
                          <a:latin typeface="Times New Roman" panose="02020603050405020304" pitchFamily="18" charset="0"/>
                          <a:ea typeface="Calibri" panose="020F0502020204030204" pitchFamily="34" charset="0"/>
                          <a:cs typeface="Times New Roman" panose="02020603050405020304" pitchFamily="18" charset="0"/>
                        </a:rPr>
                        <a:t>, T. Müller et al.</a:t>
                      </a:r>
                      <a:endParaRPr lang="en-IN" sz="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Provided real-world benchmark problems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Not institution-specific</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Benchmark-based optimization</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5759580"/>
                  </a:ext>
                </a:extLst>
              </a:tr>
              <a:tr h="229394">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8</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UniCorT: MaxSAT-Based Approach for Course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 Lemos, P. Monteiro, I. Lynce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Solved ITC2019 using MaxSAT</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 UI / user interaction</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MaxSAT + Local Search</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9790433"/>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9</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Curriculum-Based Course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P. Kostuch</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Formalized curriculum-based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Faculty availability ignored</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Constraint modeling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5775971"/>
                  </a:ext>
                </a:extLst>
              </a:tr>
              <a:tr h="229394">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10</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Particle Swarm Optimization for University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R. M. Chen et al.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Applied PSO to UCTP</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Hard to tune parameters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PSO</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1684394"/>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11</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Hybrid PSO for University Course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 Deris et al.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Improved PSO using hybrid strategies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Scalability issues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dirty="0">
                          <a:effectLst/>
                          <a:latin typeface="Times New Roman" panose="02020603050405020304" pitchFamily="18" charset="0"/>
                          <a:ea typeface="Calibri" panose="020F0502020204030204" pitchFamily="34" charset="0"/>
                          <a:cs typeface="Times New Roman" panose="02020603050405020304" pitchFamily="18" charset="0"/>
                        </a:rPr>
                        <a:t>Hybrid PSO</a:t>
                      </a:r>
                      <a:endParaRPr lang="en-IN" sz="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6097582"/>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12</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Fuzzy Methodologies for Automated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 Petrovic</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Used fuzzy logic for soft constraints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Low accuracy for large data</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Fuzzy Logic</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4951949"/>
                  </a:ext>
                </a:extLst>
              </a:tr>
              <a:tr h="229394">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13</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Multi-Objective Optimization for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K. Deb et al.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Balanced multiple constraints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Complex implementation</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NSGA-II</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4204530"/>
                  </a:ext>
                </a:extLst>
              </a:tr>
              <a:tr h="229394">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14</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University Course Timetabling Using Genetic Algorithms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D. Goldberg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Applied GA to scheduling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Slow convergence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Genetic Algorithm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6606513"/>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15</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Hybrid Evolutionary Approach for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E. K. Burke et al.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Combined GA and heuristics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 real-time scheduling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Hybrid Metaheuristics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1468644"/>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16</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Timetabling Using Neural Networks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Y. LeCun et al.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Used neural networks for scheduling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Hard to interpret results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Neural Networks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7519418"/>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17</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Optimization of Classroom Allocation</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L. Wang, Y. Chen</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Optimized classroom usage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Faculty workload ignored</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Linear Programming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6280227"/>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18</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Constraint Satisfaction Approach for Timetabling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P. Van Hentenryck</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Modeled scheduling as CSP</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High computational cost</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CSP</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3761439"/>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19</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Automated College Timetable Generator</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R. Sharma</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Desktop-based timetable system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 optimization</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Java Swing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9737355"/>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20</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Cloud-Based Timetable Management System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 Patel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Cloud-based timetable storage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 scheduling intelligence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Cloud Computing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0997812"/>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21</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Smart Campus Management System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M. Al-Fuqaha et al.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Integrated smart campus modules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Weak scheduling logic</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Web + IoT</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0481608"/>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22</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Academic Scheduling Using Data Mining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 Han, J. Pei</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Used historical data trends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Not real-time adaptable</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Data Mining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6817853"/>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23</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Automated Examination Timetabling System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 Qu et al.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Automated exam scheduling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Not suitable for class scheduling</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GA</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7643026"/>
                  </a:ext>
                </a:extLst>
              </a:tr>
              <a:tr h="380936">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24</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University Timetabling: Bridging the Gap...</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B. McCollum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Investigated the disconnect between theoretical scheduling algorithms and real-world university constraints.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Focuses on problem analysis rather than providing a deployable software tool.</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Survey / Gap Analysis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1495422"/>
                  </a:ext>
                </a:extLst>
              </a:tr>
              <a:tr h="153623">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25</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Hybrid Heuristic Timetable Scheduling System</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S. Abdullah</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Combined greedy and heuristic methods</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a:effectLst/>
                          <a:latin typeface="Times New Roman" panose="02020603050405020304" pitchFamily="18" charset="0"/>
                          <a:ea typeface="Calibri" panose="020F0502020204030204" pitchFamily="34" charset="0"/>
                          <a:cs typeface="Times New Roman" panose="02020603050405020304" pitchFamily="18" charset="0"/>
                        </a:rPr>
                        <a:t>No modern web deployment</a:t>
                      </a:r>
                      <a:endParaRPr lang="en-IN" sz="400" kern="10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15000"/>
                        </a:lnSpc>
                        <a:spcAft>
                          <a:spcPts val="800"/>
                        </a:spcAft>
                        <a:buNone/>
                      </a:pPr>
                      <a:r>
                        <a:rPr lang="en-IN" sz="400" kern="100" dirty="0">
                          <a:effectLst/>
                          <a:latin typeface="Times New Roman" panose="02020603050405020304" pitchFamily="18" charset="0"/>
                          <a:ea typeface="Calibri" panose="020F0502020204030204" pitchFamily="34" charset="0"/>
                          <a:cs typeface="Times New Roman" panose="02020603050405020304" pitchFamily="18" charset="0"/>
                        </a:rPr>
                        <a:t>Hybrid Heuristic</a:t>
                      </a:r>
                      <a:endParaRPr lang="en-IN" sz="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265" marR="3265" marT="3265" marB="326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7310916"/>
                  </a:ext>
                </a:extLst>
              </a:tr>
            </a:tbl>
          </a:graphicData>
        </a:graphic>
      </p:graphicFrame>
    </p:spTree>
    <p:extLst>
      <p:ext uri="{BB962C8B-B14F-4D97-AF65-F5344CB8AC3E}">
        <p14:creationId xmlns:p14="http://schemas.microsoft.com/office/powerpoint/2010/main" val="1828437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FA8A-4675-4A2A-73FB-042E4445D1F2}"/>
              </a:ext>
            </a:extLst>
          </p:cNvPr>
          <p:cNvSpPr>
            <a:spLocks noGrp="1"/>
          </p:cNvSpPr>
          <p:nvPr>
            <p:ph type="title"/>
          </p:nvPr>
        </p:nvSpPr>
        <p:spPr>
          <a:xfrm>
            <a:off x="812800" y="432619"/>
            <a:ext cx="10668000" cy="710381"/>
          </a:xfrm>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Architecture Diagram</a:t>
            </a:r>
            <a:br>
              <a:rPr lang="en-US" dirty="0">
                <a:latin typeface="Times New Roman" panose="02020603050405020304" pitchFamily="18" charset="0"/>
                <a:ea typeface="Cambria" panose="02040503050406030204" pitchFamily="18" charset="0"/>
                <a:cs typeface="Times New Roman" panose="02020603050405020304" pitchFamily="18" charset="0"/>
              </a:rPr>
            </a:br>
            <a:endParaRPr lang="en-IN" dirty="0"/>
          </a:p>
        </p:txBody>
      </p:sp>
      <p:pic>
        <p:nvPicPr>
          <p:cNvPr id="5" name="Picture 4">
            <a:extLst>
              <a:ext uri="{FF2B5EF4-FFF2-40B4-BE49-F238E27FC236}">
                <a16:creationId xmlns:a16="http://schemas.microsoft.com/office/drawing/2014/main" id="{E8480C66-3134-1A47-16BD-3A2E9E43ED1B}"/>
              </a:ext>
            </a:extLst>
          </p:cNvPr>
          <p:cNvPicPr>
            <a:picLocks noChangeAspect="1"/>
          </p:cNvPicPr>
          <p:nvPr/>
        </p:nvPicPr>
        <p:blipFill>
          <a:blip r:embed="rId2"/>
          <a:stretch>
            <a:fillRect/>
          </a:stretch>
        </p:blipFill>
        <p:spPr>
          <a:xfrm>
            <a:off x="943897" y="1258528"/>
            <a:ext cx="10536903" cy="4896465"/>
          </a:xfrm>
          <a:prstGeom prst="rect">
            <a:avLst/>
          </a:prstGeom>
        </p:spPr>
      </p:pic>
    </p:spTree>
    <p:extLst>
      <p:ext uri="{BB962C8B-B14F-4D97-AF65-F5344CB8AC3E}">
        <p14:creationId xmlns:p14="http://schemas.microsoft.com/office/powerpoint/2010/main" val="3039185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6326D-E643-9695-A434-543ADAC7C5DA}"/>
              </a:ext>
            </a:extLst>
          </p:cNvPr>
          <p:cNvSpPr>
            <a:spLocks noGrp="1"/>
          </p:cNvSpPr>
          <p:nvPr>
            <p:ph type="title"/>
          </p:nvPr>
        </p:nvSpPr>
        <p:spPr/>
        <p:txBody>
          <a:bodyPr/>
          <a:lstStyle/>
          <a:p>
            <a:r>
              <a:rPr lang="en-IN" dirty="0"/>
              <a:t>Algorithm Details</a:t>
            </a:r>
          </a:p>
        </p:txBody>
      </p:sp>
      <p:sp>
        <p:nvSpPr>
          <p:cNvPr id="4" name="Rectangle 1">
            <a:extLst>
              <a:ext uri="{FF2B5EF4-FFF2-40B4-BE49-F238E27FC236}">
                <a16:creationId xmlns:a16="http://schemas.microsoft.com/office/drawing/2014/main" id="{45E1E549-1F9B-4BFF-1886-31A04C3D2EE2}"/>
              </a:ext>
            </a:extLst>
          </p:cNvPr>
          <p:cNvSpPr>
            <a:spLocks noGrp="1" noChangeArrowheads="1"/>
          </p:cNvSpPr>
          <p:nvPr>
            <p:ph type="body" idx="1"/>
          </p:nvPr>
        </p:nvSpPr>
        <p:spPr bwMode="auto">
          <a:xfrm>
            <a:off x="812800" y="957235"/>
            <a:ext cx="10758073"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uses a "greedy" approach combined with randomization to solve the scheduling problem.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Hard Constraints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Faculty Overlap</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single faculty member cannot be assigned to two different classes at the same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Room Overlap</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classroom can only be occupied by one batch during any given time slot.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Room Capacity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ensures the assigned classroom can accommodate the number of students in the batch.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Fixed Slots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Any classes pre-assigned to specific times are placed first and locked.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Faculty Daily Limits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algorithm respects the "max classes per day" setting for each teacher.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Soft Constraints (Optimization Targets)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algorithm attempts to optimize these to improve the quality of the timetable.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Balanced Workload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Distributes teaching hours evenly across the work week for faculty.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Minimize Idle Time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Aims to reduce "gaps" or free periods for student batches between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Classroom Utilization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Maximizes the efficient use of available room space.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Execution Logic</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Initialization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Creates an empty 5-day × 7-slot grid.</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Iterative Placement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each batch and subject, it attempts to place classes in random slots, checking all hard constraints for every attempt.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Scoring System</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Once a valid schedule is created, the system calculates an optimization score based on workload variance and student idle time.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Multi-Option Output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generates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different versions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ranks them by their scores so the Admin can choose the best 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5428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4C7DC-AA44-98AA-3623-54D3A4A91C9A}"/>
              </a:ext>
            </a:extLst>
          </p:cNvPr>
          <p:cNvSpPr>
            <a:spLocks noGrp="1"/>
          </p:cNvSpPr>
          <p:nvPr>
            <p:ph type="title"/>
          </p:nvPr>
        </p:nvSpPr>
        <p:spPr/>
        <p:txBody>
          <a:bodyPr/>
          <a:lstStyle/>
          <a:p>
            <a:r>
              <a:rPr lang="en-IN" dirty="0"/>
              <a:t>Source Code</a:t>
            </a:r>
          </a:p>
        </p:txBody>
      </p:sp>
      <p:sp>
        <p:nvSpPr>
          <p:cNvPr id="4" name="Rectangle 1">
            <a:extLst>
              <a:ext uri="{FF2B5EF4-FFF2-40B4-BE49-F238E27FC236}">
                <a16:creationId xmlns:a16="http://schemas.microsoft.com/office/drawing/2014/main" id="{A2D694F8-2372-8C4E-4156-E70C3488536C}"/>
              </a:ext>
            </a:extLst>
          </p:cNvPr>
          <p:cNvSpPr>
            <a:spLocks noGrp="1" noChangeArrowheads="1"/>
          </p:cNvSpPr>
          <p:nvPr>
            <p:ph type="body" idx="1"/>
          </p:nvPr>
        </p:nvSpPr>
        <p:spPr bwMode="auto">
          <a:xfrm>
            <a:off x="812800" y="1267900"/>
            <a:ext cx="9943748"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is built using a modern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TypeScript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full-stack architecture.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(Node.js &amp; Express)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ORM</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Prisma is used to manage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13 database models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ensure type safety between the code and PostgreSQL.</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MVC Pattern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Organized into Controllers (Request handling), Routes (API endpoints), and Services.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Bcrypt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password hashing and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JWT (JSON Web Tokens)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role-based authorization.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(React &amp; Vite)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State Management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React Context API is used for global authentication and user session management.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Styling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 with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Tailwind CSS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 responsive, mobile-friendly design.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 Interaction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Uses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Axios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interceptors to automatically include security tokens in every request.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Schema Highlights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database is fully normalized with key relationships: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Departments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link to Faculties, Subjects, and Batches.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Faculty ↔ Subjects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Batch ↔ Subjects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many-to-many junction tables.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Timetable Entries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store the final generated data, including the specific Day, Slot, Room, and Faculty assigned.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0489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err="1">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Github</a:t>
            </a:r>
            <a:r>
              <a:rPr lang="en-US"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Link</a:t>
            </a:r>
          </a:p>
          <a:p>
            <a:pPr marL="342900" indent="-190500" algn="just">
              <a:spcBef>
                <a:spcPts val="0"/>
              </a:spcBef>
              <a:buSzPct val="100000"/>
              <a:buFont typeface="Arial"/>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hlinkClick r:id="rId3"/>
              </a:rPr>
              <a:t>https://github.com/Span-09/Smart-Classroom-and-Timetable-Scheduler-</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Visibility : Public</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964276" y="1346662"/>
            <a:ext cx="9493135" cy="3773978"/>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b="1"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86F09162-ADB5-32CA-003B-A317E702FD7A}"/>
              </a:ext>
            </a:extLst>
          </p:cNvPr>
          <p:cNvPicPr>
            <a:picLocks noChangeAspect="1"/>
          </p:cNvPicPr>
          <p:nvPr/>
        </p:nvPicPr>
        <p:blipFill>
          <a:blip r:embed="rId3"/>
          <a:stretch>
            <a:fillRect/>
          </a:stretch>
        </p:blipFill>
        <p:spPr>
          <a:xfrm>
            <a:off x="964277" y="1346662"/>
            <a:ext cx="9894224" cy="4297680"/>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r>
              <a:rPr lang="en-IN" sz="1800" b="1" dirty="0">
                <a:latin typeface="Cambria" panose="02040503050406030204" pitchFamily="18" charset="0"/>
                <a:ea typeface="Cambria" panose="02040503050406030204" pitchFamily="18" charset="0"/>
              </a:rPr>
              <a:t>[1]</a:t>
            </a:r>
            <a:r>
              <a:rPr lang="en-IN" sz="1800" dirty="0">
                <a:latin typeface="Cambria" panose="02040503050406030204" pitchFamily="18" charset="0"/>
                <a:ea typeface="Cambria" panose="02040503050406030204" pitchFamily="18" charset="0"/>
              </a:rPr>
              <a:t> S. A. K. Al-Hajri, "Automating Timetable Generation with Conflict Resolution Algorithms in Web-Based Systems for Educational Institutions," </a:t>
            </a:r>
            <a:r>
              <a:rPr lang="en-IN" sz="1800" i="1" dirty="0">
                <a:latin typeface="Cambria" panose="02040503050406030204" pitchFamily="18" charset="0"/>
                <a:ea typeface="Cambria" panose="02040503050406030204" pitchFamily="18" charset="0"/>
              </a:rPr>
              <a:t>2023 Intelligent Computing and Control for Engineering and Business Systems (ICCEBS)</a:t>
            </a:r>
            <a:r>
              <a:rPr lang="en-IN" sz="1800" dirty="0">
                <a:latin typeface="Cambria" panose="02040503050406030204" pitchFamily="18" charset="0"/>
                <a:ea typeface="Cambria" panose="02040503050406030204" pitchFamily="18" charset="0"/>
              </a:rPr>
              <a:t>, Bangalore, India, 2023, pp. 1-6.</a:t>
            </a:r>
          </a:p>
          <a:p>
            <a:r>
              <a:rPr lang="en-IN" sz="1800" b="1" dirty="0">
                <a:latin typeface="Cambria" panose="02040503050406030204" pitchFamily="18" charset="0"/>
                <a:ea typeface="Cambria" panose="02040503050406030204" pitchFamily="18" charset="0"/>
              </a:rPr>
              <a:t>[2]</a:t>
            </a:r>
            <a:r>
              <a:rPr lang="en-IN" sz="1800" dirty="0">
                <a:latin typeface="Cambria" panose="02040503050406030204" pitchFamily="18" charset="0"/>
                <a:ea typeface="Cambria" panose="02040503050406030204" pitchFamily="18" charset="0"/>
              </a:rPr>
              <a:t> Z. L. Tan et al., "A Survey of University Course Timetabling Problem: Perspectives, Trends and Opportunities," </a:t>
            </a:r>
            <a:r>
              <a:rPr lang="en-IN" sz="1800" i="1" dirty="0">
                <a:latin typeface="Cambria" panose="02040503050406030204" pitchFamily="18" charset="0"/>
                <a:ea typeface="Cambria" panose="02040503050406030204" pitchFamily="18" charset="0"/>
              </a:rPr>
              <a:t>IEEE Access</a:t>
            </a:r>
            <a:r>
              <a:rPr lang="en-IN" sz="1800" dirty="0">
                <a:latin typeface="Cambria" panose="02040503050406030204" pitchFamily="18" charset="0"/>
                <a:ea typeface="Cambria" panose="02040503050406030204" pitchFamily="18" charset="0"/>
              </a:rPr>
              <a:t>, vol. 9, pp. 12111-12125, 2021.</a:t>
            </a:r>
          </a:p>
          <a:p>
            <a:r>
              <a:rPr lang="en-IN" sz="1800" b="1" dirty="0">
                <a:latin typeface="Cambria" panose="02040503050406030204" pitchFamily="18" charset="0"/>
                <a:ea typeface="Cambria" panose="02040503050406030204" pitchFamily="18" charset="0"/>
              </a:rPr>
              <a:t>[3]</a:t>
            </a:r>
            <a:r>
              <a:rPr lang="en-IN" sz="1800" dirty="0">
                <a:latin typeface="Cambria" panose="02040503050406030204" pitchFamily="18" charset="0"/>
                <a:ea typeface="Cambria" panose="02040503050406030204" pitchFamily="18" charset="0"/>
              </a:rPr>
              <a:t> M. A. Al-Betar et al., "Automated Timetabling System for University Course," </a:t>
            </a:r>
            <a:r>
              <a:rPr lang="en-IN" sz="1800" i="1" dirty="0">
                <a:latin typeface="Cambria" panose="02040503050406030204" pitchFamily="18" charset="0"/>
                <a:ea typeface="Cambria" panose="02040503050406030204" pitchFamily="18" charset="0"/>
              </a:rPr>
              <a:t>2021 International Conference on Emerging Smart Computing and Informatics (ESCI)</a:t>
            </a:r>
            <a:r>
              <a:rPr lang="en-IN" sz="1800" dirty="0">
                <a:latin typeface="Cambria" panose="02040503050406030204" pitchFamily="18" charset="0"/>
                <a:ea typeface="Cambria" panose="02040503050406030204" pitchFamily="18" charset="0"/>
              </a:rPr>
              <a:t>, Pune, India, 2021, pp. 45-50.</a:t>
            </a:r>
          </a:p>
          <a:p>
            <a:pPr marL="76200" indent="0">
              <a:buNone/>
            </a:pPr>
            <a:br>
              <a:rPr lang="en-IN" sz="1800" dirty="0">
                <a:latin typeface="Cambria" panose="02040503050406030204" pitchFamily="18" charset="0"/>
                <a:ea typeface="Cambria" panose="02040503050406030204" pitchFamily="18" charset="0"/>
              </a:rPr>
            </a:br>
            <a:endParaRPr sz="1800"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535</TotalTime>
  <Words>2362</Words>
  <Application>Microsoft Office PowerPoint</Application>
  <PresentationFormat>Widescreen</PresentationFormat>
  <Paragraphs>339</Paragraphs>
  <Slides>18</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Cambria</vt:lpstr>
      <vt:lpstr>Times New Roman</vt:lpstr>
      <vt:lpstr>Verdana</vt:lpstr>
      <vt:lpstr>Wingdings</vt:lpstr>
      <vt:lpstr>Bioinformatics</vt:lpstr>
      <vt:lpstr>TIMEFORGE: SMART TIMETABLE SCHEDULAR</vt:lpstr>
      <vt:lpstr>Problem Statement Number: 25028</vt:lpstr>
      <vt:lpstr>Problem Statement Number: 25028</vt:lpstr>
      <vt:lpstr>Content</vt:lpstr>
      <vt:lpstr>Objectives </vt:lpstr>
      <vt:lpstr>Analysis of Problem Statement</vt:lpstr>
      <vt:lpstr>Analysis of Problem Statement (contd...)</vt:lpstr>
      <vt:lpstr>Analysis of Problem Statement (contd...)</vt:lpstr>
      <vt:lpstr>Analysis of Problem Statement (contd...)</vt:lpstr>
      <vt:lpstr>Proposed method and feasibility study </vt:lpstr>
      <vt:lpstr>Literature Review</vt:lpstr>
      <vt:lpstr>Architecture Diagram </vt:lpstr>
      <vt:lpstr>Algorithm Details</vt:lpstr>
      <vt:lpstr>Source Code</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Misba Ain</cp:lastModifiedBy>
  <cp:revision>58</cp:revision>
  <dcterms:modified xsi:type="dcterms:W3CDTF">2026-02-27T18:11:10Z</dcterms:modified>
</cp:coreProperties>
</file>